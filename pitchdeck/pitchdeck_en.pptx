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Let me start with a simple question: how many people actually saw a given social media post? It seems like basic information, and very often we simply do not have it. Our project is about how to estimate such visibility when the platform does not show it. We are doing it as part of the media analysis course, for the company Brand24. In the next few minutes I will show our hypothesis, how we want to test it, who it will help and why we will succeed. (~35 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start with the problem. Social media platforms very often do not reveal how many people actually saw a post. One reason is that they earn money from ads themselves, so reach is a commercial asset for them, not information they readily give away. Brand24 is a tool that monitors mentions of brands on the internet. So it sees that someone wrote about a brand, but does not always know how many people read it. Imagine a post about a brand: we do not know whether ten people saw it or ten thousand, and for a brand that is a huge difference. That is why it has to estimate visibility. And this is where our hypothesis comes in. (~50 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Instead of a problem, we state a hypothesis. It goes like this: the visibility of a post can be estimated better than by today's Brand24 rule if, besides the number of followers, we take reactions into account, that is likes, comments and shares. Today the result is a single number: followers times a constant. We want to give an estimate together with an uncertainty interval, so that it is clear when not to trust it. The hypothesis is falsifiable: if, on posts for which we know the true views, our model is not better than the Brand24 rule, we consider it refuted. Such a result is also valuable. (~45 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we want to tackle it technologically? Four steps. First, data exploration: gaps, distributions and odd cases, for example posts with huge reach. Then estimation: a model in Python on a log scale that uses followers, likes, comments, shares and the platform. The third step is cross-validation where we know the true views. The fourth is uncertainty: instead of a single number we give an interval. We work on twelve and a half thousand mentions from five platforms. At the bottom you can see for what share of mentions we know the true views: TikTok 100 percent, YouTube 99, Twitter 75, and Facebook and Instagram zero. This is our reference point. (~45 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client is society, so who gains? First, companies and brands: they know how many people really saw a mention. Second, small businesses and non-governmental organisations that cannot afford paid data from the platforms. Third, journalists and fact-checkers: they can judge how far a false piece of information has spread. Fourth, media researchers, who get a measure together with its uncertainty. And finally all of us: fewer inflated numbers in reports and in the media. (~30 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Instead of market size we estimate impact, and we treat it as a game of orders of magnitude. At the top: there are about five billion social media accounts in the world, according to the DataReportal report. Every one of their posts could be measured more honestly. Closer to us: Brand24 says it is used by over two thousand four hundred companies. If about five people read the reports in each, then directly some twelve thousand people get better numbers. This is not a measurement, just an estimate, but it shows the scale. (~40 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will we succeed? Two reasons. The first is feasibility: we have legal data from the client, the company Brand24, that is twelve and a half thousand public mentions from five platforms. On TikTok and YouTube we know the true views, and we do not use authors' personal data. The preliminary test in the exploration is promising. The second is the state of knowledge we build on: Cha and co-authors showed that the number of followers is not real influence. Szabo and Huberman, that content popularity can be predicted. Bakshy and co-authors, that a single post is hard to predict, which is why we need uncertainty. And conformal methods, described by Angelopoulos and Bates, give intervals with a guarantee. Thank you. (~50 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gradFill rotWithShape="1">
          <a:gsLst>
            <a:gs pos="0">
              <a:srgbClr val="3A2878"/>
            </a:gs>
            <a:gs pos="100000">
              <a:srgbClr val="170E3A"/>
            </a:gs>
          </a:gsLst>
          <a:lin scaled="0" ang="2700000"/>
        </a:gradFill>
        <a:effectLst/>
      </p:bgPr>
    </p:bg>
    <p:spTree>
      <p:nvGrpSpPr>
        <p:cNvPr id="1" name=""/>
        <p:cNvGrpSpPr/>
        <p:nvPr/>
      </p:nvGrpSpPr>
      <p:grpSpPr/>
      <p:sp>
        <p:nvSpPr>
          <p:cNvPr id="2" name="!!b1"/>
          <p:cNvSpPr/>
          <p:nvPr/>
        </p:nvSpPr>
        <p:spPr>
          <a:xfrm>
            <a:off x="8869680" y="365760"/>
            <a:ext cx="2926080" cy="2926080"/>
          </a:xfrm>
          <a:prstGeom prst="ellipse">
            <a:avLst/>
          </a:prstGeom>
          <a:solidFill>
            <a:srgbClr val="E84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b2"/>
          <p:cNvSpPr/>
          <p:nvPr/>
        </p:nvSpPr>
        <p:spPr>
          <a:xfrm>
            <a:off x="10515600" y="4023360"/>
            <a:ext cx="1371600" cy="1371600"/>
          </a:xfrm>
          <a:prstGeom prst="ellipse">
            <a:avLst/>
          </a:prstGeom>
          <a:solidFill>
            <a:srgbClr val="FFC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3"/>
          <p:cNvSpPr/>
          <p:nvPr/>
        </p:nvSpPr>
        <p:spPr>
          <a:xfrm>
            <a:off x="7680960" y="4389120"/>
            <a:ext cx="914400" cy="914400"/>
          </a:xfrm>
          <a:prstGeom prst="ellipse">
            <a:avLst/>
          </a:prstGeom>
          <a:solidFill>
            <a:srgbClr val="3B5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rogress"/>
          <p:cNvSpPr/>
          <p:nvPr/>
        </p:nvSpPr>
        <p:spPr>
          <a:xfrm>
            <a:off x="0" y="6748272"/>
            <a:ext cx="1741670" cy="109728"/>
          </a:xfrm>
          <a:prstGeom prst="rect">
            <a:avLst/>
          </a:prstGeom>
          <a:solidFill>
            <a:srgbClr val="FFC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4-Point Star 5"/>
          <p:cNvSpPr/>
          <p:nvPr/>
        </p:nvSpPr>
        <p:spPr>
          <a:xfrm>
            <a:off x="7406640" y="1097280"/>
            <a:ext cx="320040" cy="320040"/>
          </a:xfrm>
          <a:prstGeom prst="star4">
            <a:avLst/>
          </a:prstGeom>
          <a:solidFill>
            <a:srgbClr val="FFC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4-Point Star 6"/>
          <p:cNvSpPr/>
          <p:nvPr/>
        </p:nvSpPr>
        <p:spPr>
          <a:xfrm>
            <a:off x="11521440" y="3017520"/>
            <a:ext cx="256032" cy="256032"/>
          </a:xfrm>
          <a:prstGeom prst="star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4-Point Star 7"/>
          <p:cNvSpPr/>
          <p:nvPr/>
        </p:nvSpPr>
        <p:spPr>
          <a:xfrm>
            <a:off x="6949440" y="3566160"/>
            <a:ext cx="201168" cy="201168"/>
          </a:xfrm>
          <a:prstGeom prst="star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4-Point Star 8"/>
          <p:cNvSpPr/>
          <p:nvPr/>
        </p:nvSpPr>
        <p:spPr>
          <a:xfrm>
            <a:off x="9326880" y="5760720"/>
            <a:ext cx="274320" cy="274320"/>
          </a:xfrm>
          <a:prstGeom prst="star4">
            <a:avLst/>
          </a:prstGeom>
          <a:solidFill>
            <a:srgbClr val="FFC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0" name="Group 9"/>
          <p:cNvGrpSpPr/>
          <p:nvPr/>
        </p:nvGrpSpPr>
        <p:grpSpPr>
          <a:xfrm>
            <a:off x="8138160" y="2103120"/>
            <a:ext cx="3200400" cy="2286000"/>
            <a:chOff x="8138160" y="2103120"/>
            <a:chExt cx="3200400" cy="2286000"/>
          </a:xfrm>
        </p:grpSpPr>
        <p:sp>
          <p:nvSpPr>
            <p:cNvPr id="11" name="Rounded Rectangle 10"/>
            <p:cNvSpPr/>
            <p:nvPr/>
          </p:nvSpPr>
          <p:spPr>
            <a:xfrm rot="21240000">
              <a:off x="8138160" y="2103120"/>
              <a:ext cx="3200400" cy="2286000"/>
            </a:xfrm>
            <a:prstGeom prst="roundRect">
              <a:avLst>
                <a:gd name="adj" fmla="val 9000"/>
              </a:avLst>
            </a:prstGeom>
            <a:solidFill>
              <a:srgbClr val="FFFFFF"/>
            </a:solidFill>
            <a:ln>
              <a:noFill/>
            </a:ln>
            <a:effectLst>
              <a:outerShdw blurRad="381000" dist="152400" dir="5400000" algn="t" rotWithShape="0">
                <a:srgbClr val="0B062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rot="21240000">
              <a:off x="8412480" y="2423160"/>
              <a:ext cx="502920" cy="502920"/>
            </a:xfrm>
            <a:prstGeom prst="ellipse">
              <a:avLst/>
            </a:prstGeom>
            <a:solidFill>
              <a:srgbClr val="F0E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rot="21240000">
              <a:off x="9052560" y="2514600"/>
              <a:ext cx="1554480" cy="137160"/>
            </a:xfrm>
            <a:prstGeom prst="roundRect">
              <a:avLst>
                <a:gd name="adj" fmla="val 50000"/>
              </a:avLst>
            </a:prstGeom>
            <a:solidFill>
              <a:srgbClr val="F0E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0" y="3193542"/>
              <a:ext cx="1188720" cy="653796"/>
            </a:xfrm>
            <a:prstGeom prst="ellipse">
              <a:avLst/>
            </a:prstGeom>
            <a:solidFill>
              <a:srgbClr val="FFFFFF"/>
            </a:solidFill>
            <a:ln w="38100">
              <a:solidFill>
                <a:srgbClr val="2D1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509531" y="3291611"/>
              <a:ext cx="457657" cy="457657"/>
            </a:xfrm>
            <a:prstGeom prst="ellipse">
              <a:avLst/>
            </a:prstGeom>
            <a:solidFill>
              <a:srgbClr val="E84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58269" y="3440349"/>
              <a:ext cx="160180" cy="160180"/>
            </a:xfrm>
            <a:prstGeom prst="ellipse">
              <a:avLst/>
            </a:prstGeom>
            <a:solidFill>
              <a:srgbClr val="2D1E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706323" y="3344241"/>
              <a:ext cx="88099" cy="88099"/>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rot="21240000">
              <a:off x="10332720" y="3794760"/>
              <a:ext cx="822960" cy="457200"/>
            </a:xfrm>
            <a:prstGeom prst="roundRect">
              <a:avLst>
                <a:gd name="adj" fmla="val 50000"/>
              </a:avLst>
            </a:prstGeom>
            <a:solidFill>
              <a:srgbClr val="FFC247"/>
            </a:solidFill>
            <a:ln>
              <a:noFill/>
            </a:ln>
            <a:effectLst>
              <a:outerShdw blurRad="127000" dist="38100" dir="5400000" algn="t" rotWithShape="0">
                <a:srgbClr val="0B062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1E1740"/>
                  </a:solidFill>
                  <a:latin typeface="Calibri"/>
                </a:rPr>
                <a:t>???</a:t>
              </a:r>
            </a:p>
          </p:txBody>
        </p:sp>
      </p:grpSp>
      <p:grpSp>
        <p:nvGrpSpPr>
          <p:cNvPr id="19" name="Group 18"/>
          <p:cNvGrpSpPr/>
          <p:nvPr/>
        </p:nvGrpSpPr>
        <p:grpSpPr>
          <a:xfrm>
            <a:off x="822960" y="1645920"/>
            <a:ext cx="7040880" cy="2788920"/>
            <a:chOff x="822960" y="1645920"/>
            <a:chExt cx="7040880" cy="2788920"/>
          </a:xfrm>
        </p:grpSpPr>
        <p:sp>
          <p:nvSpPr>
            <p:cNvPr id="20" name="Rectangle 19"/>
            <p:cNvSpPr/>
            <p:nvPr/>
          </p:nvSpPr>
          <p:spPr>
            <a:xfrm>
              <a:off x="822960" y="1783080"/>
              <a:ext cx="128016" cy="2651760"/>
            </a:xfrm>
            <a:prstGeom prst="rect">
              <a:avLst/>
            </a:prstGeom>
            <a:solidFill>
              <a:srgbClr val="FFC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88720" y="1645920"/>
              <a:ext cx="6675120" cy="1737360"/>
            </a:xfrm>
            <a:prstGeom prst="rect">
              <a:avLst/>
            </a:prstGeom>
            <a:noFill/>
          </p:spPr>
          <p:txBody>
            <a:bodyPr wrap="square" lIns="0" rIns="0" tIns="0" bIns="0" anchor="t">
              <a:spAutoFit/>
            </a:bodyPr>
            <a:lstStyle/>
            <a:p>
              <a:pPr algn="l"/>
              <a:r>
                <a:rPr sz="5200" b="1">
                  <a:solidFill>
                    <a:srgbClr val="FFFFFF"/>
                  </a:solidFill>
                  <a:latin typeface="Calibri"/>
                </a:rPr>
                <a:t>How many people really</a:t>
              </a:r>
            </a:p>
            <a:p>
              <a:pPr algn="l"/>
              <a:r>
                <a:rPr sz="5200" b="1">
                  <a:solidFill>
                    <a:srgbClr val="FFFFFF"/>
                  </a:solidFill>
                  <a:latin typeface="Calibri"/>
                </a:rPr>
                <a:t>saw this post?</a:t>
              </a:r>
            </a:p>
          </p:txBody>
        </p:sp>
      </p:grpSp>
      <p:sp>
        <p:nvSpPr>
          <p:cNvPr id="22" name="TextBox 21"/>
          <p:cNvSpPr txBox="1"/>
          <p:nvPr/>
        </p:nvSpPr>
        <p:spPr>
          <a:xfrm>
            <a:off x="1188720" y="3611880"/>
            <a:ext cx="6400800" cy="914400"/>
          </a:xfrm>
          <a:prstGeom prst="rect">
            <a:avLst/>
          </a:prstGeom>
          <a:noFill/>
        </p:spPr>
        <p:txBody>
          <a:bodyPr wrap="square" lIns="0" rIns="0" tIns="0" bIns="0" anchor="t">
            <a:spAutoFit/>
          </a:bodyPr>
          <a:lstStyle/>
          <a:p>
            <a:pPr algn="l"/>
            <a:r>
              <a:rPr sz="2800" b="0">
                <a:solidFill>
                  <a:srgbClr val="FFD98A"/>
                </a:solidFill>
                <a:latin typeface="Calibri"/>
              </a:rPr>
              <a:t>How to estimate the visibility</a:t>
            </a:r>
          </a:p>
          <a:p>
            <a:pPr algn="l"/>
            <a:r>
              <a:rPr sz="2800" b="0">
                <a:solidFill>
                  <a:srgbClr val="FFD98A"/>
                </a:solidFill>
                <a:latin typeface="Calibri"/>
              </a:rPr>
              <a:t>of social media posts</a:t>
            </a:r>
          </a:p>
        </p:txBody>
      </p:sp>
      <p:sp>
        <p:nvSpPr>
          <p:cNvPr id="23" name="TextBox 22"/>
          <p:cNvSpPr txBox="1"/>
          <p:nvPr/>
        </p:nvSpPr>
        <p:spPr>
          <a:xfrm>
            <a:off x="1188720" y="5760720"/>
            <a:ext cx="6400800" cy="457200"/>
          </a:xfrm>
          <a:prstGeom prst="rect">
            <a:avLst/>
          </a:prstGeom>
          <a:noFill/>
        </p:spPr>
        <p:txBody>
          <a:bodyPr wrap="square" lIns="0" rIns="0" tIns="0" bIns="0" anchor="t">
            <a:spAutoFit/>
          </a:bodyPr>
          <a:lstStyle/>
          <a:p>
            <a:pPr algn="l"/>
            <a:r>
              <a:rPr sz="2200" b="0">
                <a:solidFill>
                  <a:srgbClr val="C9C2E0"/>
                </a:solidFill>
                <a:latin typeface="Calibri"/>
              </a:rPr>
              <a:t>AMC project  ·  for Brand24</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99999" fill="hold">
                      <p:stCondLst>
                        <p:cond delay="indefinite"/>
                        <p:cond evt="onBegin" delay="0">
                          <p:tn val="2"/>
                        </p:cond>
                      </p:stCondLst>
                      <p:childTnLst>
                        <p:par>
                          <p:cTn id="3" fill="hold">
                            <p:stCondLst>
                              <p:cond delay="0"/>
                            </p:stCondLst>
                            <p:childTnLst>
                              <p:par>
                                <p:cTn id="4" presetID="42" presetClass="entr" presetSubtype="0" fill="hold" nodeType="afterEffect">
                                  <p:stCondLst>
                                    <p:cond delay="0"/>
                                  </p:stCondLst>
                                  <p:childTnLst>
                                    <p:set>
                                      <p:cBhvr>
                                        <p:cTn id="5" dur="1" fill="hold">
                                          <p:stCondLst>
                                            <p:cond delay="0"/>
                                          </p:stCondLst>
                                        </p:cTn>
                                        <p:tgtEl>
                                          <p:spTgt spid="19"/>
                                        </p:tgtEl>
                                        <p:attrNameLst>
                                          <p:attrName>style.visibility</p:attrName>
                                        </p:attrNameLst>
                                      </p:cBhvr>
                                      <p:to>
                                        <p:strVal val="visible"/>
                                      </p:to>
                                    </p:set>
                                    <p:animEffect transition="in" filter="fade">
                                      <p:cBhvr>
                                        <p:cTn id="6" dur="500"/>
                                        <p:tgtEl>
                                          <p:spTgt spid="19"/>
                                        </p:tgtEl>
                                      </p:cBhvr>
                                    </p:animEffec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ppt_y+.08"/>
                                          </p:val>
                                        </p:tav>
                                        <p:tav tm="100000">
                                          <p:val>
                                            <p:strVal val="#ppt_y"/>
                                          </p:val>
                                        </p:tav>
                                      </p:tavLst>
                                    </p:anim>
                                  </p:childTnLst>
                                </p:cTn>
                              </p:par>
                            </p:childTnLst>
                          </p:cTn>
                        </p:par>
                        <p:par>
                          <p:cTn id="9" fill="hold">
                            <p:stCondLst>
                              <p:cond delay="620"/>
                            </p:stCondLst>
                            <p:childTnLst>
                              <p:par>
                                <p:cTn id="10" presetID="42" presetClass="entr" presetSubtype="0" fill="hold" nodeType="after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anim calcmode="lin" valueType="num">
                                      <p:cBhvr additive="base">
                                        <p:cTn id="13" dur="500" fill="hold"/>
                                        <p:tgtEl>
                                          <p:spTgt spid="22"/>
                                        </p:tgtEl>
                                        <p:attrNameLst>
                                          <p:attrName>ppt_x</p:attrName>
                                        </p:attrNameLst>
                                      </p:cBhvr>
                                      <p:tavLst>
                                        <p:tav tm="0">
                                          <p:val>
                                            <p:strVal val="#ppt_x"/>
                                          </p:val>
                                        </p:tav>
                                        <p:tav tm="100000">
                                          <p:val>
                                            <p:strVal val="#ppt_x"/>
                                          </p:val>
                                        </p:tav>
                                      </p:tavLst>
                                    </p:anim>
                                    <p:anim calcmode="lin" valueType="num">
                                      <p:cBhvr additive="base">
                                        <p:cTn id="14" dur="500" fill="hold"/>
                                        <p:tgtEl>
                                          <p:spTgt spid="22"/>
                                        </p:tgtEl>
                                        <p:attrNameLst>
                                          <p:attrName>ppt_y</p:attrName>
                                        </p:attrNameLst>
                                      </p:cBhvr>
                                      <p:tavLst>
                                        <p:tav tm="0">
                                          <p:val>
                                            <p:strVal val="#ppt_y+.08"/>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500"/>
                                        <p:tgtEl>
                                          <p:spTgt spid="23"/>
                                        </p:tgtEl>
                                      </p:cBhvr>
                                    </p:animEffect>
                                    <p:anim calcmode="lin" valueType="num">
                                      <p:cBhvr additive="base">
                                        <p:cTn id="18" dur="500" fill="hold"/>
                                        <p:tgtEl>
                                          <p:spTgt spid="23"/>
                                        </p:tgtEl>
                                        <p:attrNameLst>
                                          <p:attrName>ppt_x</p:attrName>
                                        </p:attrNameLst>
                                      </p:cBhvr>
                                      <p:tavLst>
                                        <p:tav tm="0">
                                          <p:val>
                                            <p:strVal val="#ppt_x"/>
                                          </p:val>
                                        </p:tav>
                                        <p:tav tm="100000">
                                          <p:val>
                                            <p:strVal val="#ppt_x"/>
                                          </p:val>
                                        </p:tav>
                                      </p:tavLst>
                                    </p:anim>
                                    <p:anim calcmode="lin" valueType="num">
                                      <p:cBhvr additive="base">
                                        <p:cTn id="19" dur="500" fill="hold"/>
                                        <p:tgtEl>
                                          <p:spTgt spid="23"/>
                                        </p:tgtEl>
                                        <p:attrNameLst>
                                          <p:attrName>ppt_y</p:attrName>
                                        </p:attrNameLst>
                                      </p:cBhvr>
                                      <p:tavLst>
                                        <p:tav tm="0">
                                          <p:val>
                                            <p:strVal val="#ppt_y+.08"/>
                                          </p:val>
                                        </p:tav>
                                        <p:tav tm="100000">
                                          <p:val>
                                            <p:strVal val="#ppt_y"/>
                                          </p:val>
                                        </p:tav>
                                      </p:tavLst>
                                    </p:anim>
                                  </p:childTnLst>
                                </p:cTn>
                              </p:par>
                            </p:childTnLst>
                          </p:cTn>
                        </p:par>
                        <p:par>
                          <p:cTn id="20" fill="hold">
                            <p:stCondLst>
                              <p:cond delay="1240"/>
                            </p:stCondLst>
                            <p:childTnLst>
                              <p:par>
                                <p:cTn id="21" presetID="42" presetClass="entr" presetSubtype="0"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anim calcmode="lin" valueType="num">
                                      <p:cBhvr additive="base">
                                        <p:cTn id="24" dur="500" fill="hold"/>
                                        <p:tgtEl>
                                          <p:spTgt spid="10"/>
                                        </p:tgtEl>
                                        <p:attrNameLst>
                                          <p:attrName>ppt_x</p:attrName>
                                        </p:attrNameLst>
                                      </p:cBhvr>
                                      <p:tavLst>
                                        <p:tav tm="0">
                                          <p:val>
                                            <p:strVal val="#ppt_x"/>
                                          </p:val>
                                        </p:tav>
                                        <p:tav tm="100000">
                                          <p:val>
                                            <p:strVal val="#ppt_x"/>
                                          </p:val>
                                        </p:tav>
                                      </p:tavLst>
                                    </p:anim>
                                    <p:anim calcmode="lin" valueType="num">
                                      <p:cBhvr additive="base">
                                        <p:cTn id="25" dur="500" fill="hold"/>
                                        <p:tgtEl>
                                          <p:spTgt spid="10"/>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F"/>
        </a:solidFill>
        <a:effectLst/>
      </p:bgPr>
    </p:bg>
    <p:spTree>
      <p:nvGrpSpPr>
        <p:cNvPr id="1" name=""/>
        <p:cNvGrpSpPr/>
        <p:nvPr/>
      </p:nvGrpSpPr>
      <p:grpSpPr/>
      <p:sp>
        <p:nvSpPr>
          <p:cNvPr id="2" name="!!b1"/>
          <p:cNvSpPr/>
          <p:nvPr/>
        </p:nvSpPr>
        <p:spPr>
          <a:xfrm>
            <a:off x="10424160" y="-1371600"/>
            <a:ext cx="2926080" cy="2926080"/>
          </a:xfrm>
          <a:prstGeom prst="ellipse">
            <a:avLst/>
          </a:prstGeom>
          <a:solidFill>
            <a:srgbClr val="E8475A">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b2"/>
          <p:cNvSpPr/>
          <p:nvPr/>
        </p:nvSpPr>
        <p:spPr>
          <a:xfrm>
            <a:off x="11430000" y="6035040"/>
            <a:ext cx="1371600" cy="1371600"/>
          </a:xfrm>
          <a:prstGeom prst="ellipse">
            <a:avLst/>
          </a:prstGeom>
          <a:solidFill>
            <a:srgbClr val="FFC247">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3"/>
          <p:cNvSpPr/>
          <p:nvPr/>
        </p:nvSpPr>
        <p:spPr>
          <a:xfrm>
            <a:off x="-457200" y="6309360"/>
            <a:ext cx="914400" cy="914400"/>
          </a:xfrm>
          <a:prstGeom prst="ellipse">
            <a:avLst/>
          </a:prstGeom>
          <a:solidFill>
            <a:srgbClr val="3B5BDB">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rogress"/>
          <p:cNvSpPr/>
          <p:nvPr/>
        </p:nvSpPr>
        <p:spPr>
          <a:xfrm>
            <a:off x="0" y="6748272"/>
            <a:ext cx="3483341" cy="109728"/>
          </a:xfrm>
          <a:prstGeom prst="rect">
            <a:avLst/>
          </a:prstGeom>
          <a:solidFill>
            <a:srgbClr val="E84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ot"/>
          <p:cNvSpPr/>
          <p:nvPr/>
        </p:nvSpPr>
        <p:spPr>
          <a:xfrm>
            <a:off x="640080" y="566928"/>
            <a:ext cx="310896" cy="310896"/>
          </a:xfrm>
          <a:prstGeom prst="ellipse">
            <a:avLst/>
          </a:prstGeom>
          <a:solidFill>
            <a:srgbClr val="E84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365760"/>
            <a:ext cx="10424160" cy="731520"/>
          </a:xfrm>
          <a:prstGeom prst="rect">
            <a:avLst/>
          </a:prstGeom>
          <a:noFill/>
        </p:spPr>
        <p:txBody>
          <a:bodyPr wrap="square" lIns="0" rIns="0" tIns="0" bIns="0" anchor="ctr">
            <a:spAutoFit/>
          </a:bodyPr>
          <a:lstStyle/>
          <a:p>
            <a:pPr algn="l"/>
            <a:r>
              <a:rPr sz="3800" b="1">
                <a:solidFill>
                  <a:srgbClr val="1E1740"/>
                </a:solidFill>
                <a:latin typeface="Calibri"/>
              </a:rPr>
              <a:t>Platforms hide post visibility</a:t>
            </a:r>
          </a:p>
        </p:txBody>
      </p:sp>
      <p:grpSp>
        <p:nvGrpSpPr>
          <p:cNvPr id="8" name="Group 7"/>
          <p:cNvGrpSpPr/>
          <p:nvPr/>
        </p:nvGrpSpPr>
        <p:grpSpPr>
          <a:xfrm>
            <a:off x="640080" y="1554480"/>
            <a:ext cx="4480560" cy="4572000"/>
            <a:chOff x="640080" y="1554480"/>
            <a:chExt cx="4480560" cy="4572000"/>
          </a:xfrm>
        </p:grpSpPr>
        <p:sp>
          <p:nvSpPr>
            <p:cNvPr id="9" name="Rounded Rectangle 8"/>
            <p:cNvSpPr/>
            <p:nvPr/>
          </p:nvSpPr>
          <p:spPr>
            <a:xfrm>
              <a:off x="640080" y="1554480"/>
              <a:ext cx="4480560" cy="4572000"/>
            </a:xfrm>
            <a:prstGeom prst="roundRect">
              <a:avLst>
                <a:gd name="adj" fmla="val 7000"/>
              </a:avLst>
            </a:prstGeom>
            <a:solidFill>
              <a:srgbClr val="FFFFFF"/>
            </a:solidFill>
            <a:ln w="19050">
              <a:solidFill>
                <a:srgbClr val="E6DDEE"/>
              </a:solidFill>
            </a:ln>
            <a:effectLst>
              <a:outerShdw blurRad="203200" dist="63500" dir="5400000" algn="t" rotWithShape="0">
                <a:srgbClr val="2D1E5F">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60120" y="1874519"/>
              <a:ext cx="685800" cy="685800"/>
            </a:xfrm>
            <a:prstGeom prst="ellipse">
              <a:avLst/>
            </a:prstGeom>
            <a:solidFill>
              <a:srgbClr val="3B5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828800" y="1965960"/>
              <a:ext cx="2377440" cy="182880"/>
            </a:xfrm>
            <a:prstGeom prst="roundRect">
              <a:avLst>
                <a:gd name="adj" fmla="val 50000"/>
              </a:avLst>
            </a:prstGeom>
            <a:solidFill>
              <a:srgbClr val="F0E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828800" y="2286000"/>
              <a:ext cx="1554480" cy="182880"/>
            </a:xfrm>
            <a:prstGeom prst="roundRect">
              <a:avLst>
                <a:gd name="adj" fmla="val 50000"/>
              </a:avLst>
            </a:prstGeom>
            <a:solidFill>
              <a:srgbClr val="F0E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60120" y="2834640"/>
              <a:ext cx="3840480" cy="182880"/>
            </a:xfrm>
            <a:prstGeom prst="roundRect">
              <a:avLst>
                <a:gd name="adj" fmla="val 50000"/>
              </a:avLst>
            </a:prstGeom>
            <a:solidFill>
              <a:srgbClr val="F0E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60120" y="3154680"/>
              <a:ext cx="3108960" cy="182880"/>
            </a:xfrm>
            <a:prstGeom prst="roundRect">
              <a:avLst>
                <a:gd name="adj" fmla="val 50000"/>
              </a:avLst>
            </a:prstGeom>
            <a:solidFill>
              <a:srgbClr val="F0E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17319" y="4240530"/>
              <a:ext cx="1371600" cy="754380"/>
            </a:xfrm>
            <a:prstGeom prst="ellipse">
              <a:avLst/>
            </a:prstGeom>
            <a:solidFill>
              <a:srgbClr val="FFFFFF"/>
            </a:solidFill>
            <a:ln w="38100">
              <a:solidFill>
                <a:srgbClr val="2D1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839087" y="4353687"/>
              <a:ext cx="528066" cy="528066"/>
            </a:xfrm>
            <a:prstGeom prst="ellipse">
              <a:avLst/>
            </a:prstGeom>
            <a:solidFill>
              <a:srgbClr val="E84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010708" y="4525308"/>
              <a:ext cx="184823" cy="184823"/>
            </a:xfrm>
            <a:prstGeom prst="ellipse">
              <a:avLst/>
            </a:prstGeom>
            <a:solidFill>
              <a:srgbClr val="2D1E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066155" y="4414414"/>
              <a:ext cx="101652" cy="10165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154680" y="4297680"/>
              <a:ext cx="1554480" cy="685800"/>
            </a:xfrm>
            <a:prstGeom prst="roundRect">
              <a:avLst>
                <a:gd name="adj" fmla="val 50000"/>
              </a:avLst>
            </a:prstGeom>
            <a:solidFill>
              <a:srgbClr val="FFC247"/>
            </a:solidFill>
            <a:ln>
              <a:noFill/>
            </a:ln>
            <a:effectLst>
              <a:outerShdw blurRad="101600" dist="38100" dir="5400000" algn="t" rotWithShape="0">
                <a:srgbClr val="2D1E5F">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E1740"/>
                  </a:solidFill>
                  <a:latin typeface="Calibri"/>
                </a:rPr>
                <a:t>???</a:t>
              </a:r>
            </a:p>
          </p:txBody>
        </p:sp>
        <p:sp>
          <p:nvSpPr>
            <p:cNvPr id="20" name="TextBox 19"/>
            <p:cNvSpPr txBox="1"/>
            <p:nvPr/>
          </p:nvSpPr>
          <p:spPr>
            <a:xfrm>
              <a:off x="960120" y="5440680"/>
              <a:ext cx="3931920" cy="457200"/>
            </a:xfrm>
            <a:prstGeom prst="rect">
              <a:avLst/>
            </a:prstGeom>
            <a:noFill/>
          </p:spPr>
          <p:txBody>
            <a:bodyPr wrap="square" lIns="0" rIns="0" tIns="0" bIns="0" anchor="t">
              <a:spAutoFit/>
            </a:bodyPr>
            <a:lstStyle/>
            <a:p>
              <a:pPr algn="ctr"/>
              <a:r>
                <a:rPr sz="2400" b="1">
                  <a:solidFill>
                    <a:srgbClr val="2D1E5F"/>
                  </a:solidFill>
                  <a:latin typeface="Calibri"/>
                </a:rPr>
                <a:t>How many people saw this?</a:t>
              </a:r>
            </a:p>
          </p:txBody>
        </p:sp>
      </p:grpSp>
      <p:grpSp>
        <p:nvGrpSpPr>
          <p:cNvPr id="21" name="Group 20"/>
          <p:cNvGrpSpPr/>
          <p:nvPr/>
        </p:nvGrpSpPr>
        <p:grpSpPr>
          <a:xfrm>
            <a:off x="5577840" y="1554480"/>
            <a:ext cx="5989320" cy="1417320"/>
            <a:chOff x="5577840" y="1554480"/>
            <a:chExt cx="5989320" cy="1417320"/>
          </a:xfrm>
        </p:grpSpPr>
        <p:sp>
          <p:nvSpPr>
            <p:cNvPr id="22" name="Rounded Rectangle 21"/>
            <p:cNvSpPr/>
            <p:nvPr/>
          </p:nvSpPr>
          <p:spPr>
            <a:xfrm>
              <a:off x="5577840" y="1554480"/>
              <a:ext cx="5989320" cy="1417320"/>
            </a:xfrm>
            <a:prstGeom prst="roundRect">
              <a:avLst>
                <a:gd name="adj" fmla="val 12000"/>
              </a:avLst>
            </a:prstGeom>
            <a:gradFill rotWithShape="1">
              <a:gsLst>
                <a:gs pos="0">
                  <a:srgbClr val="2D1E5F"/>
                </a:gs>
                <a:gs pos="100000">
                  <a:srgbClr val="625687"/>
                </a:gs>
              </a:gsLst>
              <a:lin scaled="0" ang="0"/>
            </a:gradFill>
            <a:ln>
              <a:noFill/>
            </a:ln>
            <a:effectLst>
              <a:outerShdw blurRad="177800" dist="63500" dir="5400000" algn="t" rotWithShape="0">
                <a:srgbClr val="2D1E5F">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52160" y="1874519"/>
              <a:ext cx="777240" cy="7772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2D1E5F"/>
                  </a:solidFill>
                  <a:latin typeface="Calibri"/>
                </a:rPr>
                <a:t>1</a:t>
              </a:r>
            </a:p>
          </p:txBody>
        </p:sp>
        <p:sp>
          <p:nvSpPr>
            <p:cNvPr id="24" name="TextBox 23"/>
            <p:cNvSpPr txBox="1"/>
            <p:nvPr/>
          </p:nvSpPr>
          <p:spPr>
            <a:xfrm>
              <a:off x="6858000" y="1554480"/>
              <a:ext cx="4572000" cy="1417320"/>
            </a:xfrm>
            <a:prstGeom prst="rect">
              <a:avLst/>
            </a:prstGeom>
            <a:noFill/>
          </p:spPr>
          <p:txBody>
            <a:bodyPr wrap="square" lIns="0" rIns="0" tIns="0" bIns="0" anchor="ctr">
              <a:spAutoFit/>
            </a:bodyPr>
            <a:lstStyle/>
            <a:p>
              <a:pPr algn="l"/>
              <a:r>
                <a:rPr sz="2600" b="1">
                  <a:solidFill>
                    <a:srgbClr val="FFFFFF"/>
                  </a:solidFill>
                  <a:latin typeface="Calibri"/>
                </a:rPr>
                <a:t>Reach is often hidden</a:t>
              </a:r>
            </a:p>
          </p:txBody>
        </p:sp>
      </p:grpSp>
      <p:grpSp>
        <p:nvGrpSpPr>
          <p:cNvPr id="25" name="Group 24"/>
          <p:cNvGrpSpPr/>
          <p:nvPr/>
        </p:nvGrpSpPr>
        <p:grpSpPr>
          <a:xfrm>
            <a:off x="5577840" y="3108960"/>
            <a:ext cx="5989320" cy="1417320"/>
            <a:chOff x="5577840" y="3108960"/>
            <a:chExt cx="5989320" cy="1417320"/>
          </a:xfrm>
        </p:grpSpPr>
        <p:sp>
          <p:nvSpPr>
            <p:cNvPr id="26" name="Rounded Rectangle 25"/>
            <p:cNvSpPr/>
            <p:nvPr/>
          </p:nvSpPr>
          <p:spPr>
            <a:xfrm>
              <a:off x="5577840" y="3108960"/>
              <a:ext cx="5989320" cy="1417320"/>
            </a:xfrm>
            <a:prstGeom prst="roundRect">
              <a:avLst>
                <a:gd name="adj" fmla="val 12000"/>
              </a:avLst>
            </a:prstGeom>
            <a:gradFill rotWithShape="1">
              <a:gsLst>
                <a:gs pos="0">
                  <a:srgbClr val="3B5BDB"/>
                </a:gs>
                <a:gs pos="100000">
                  <a:srgbClr val="6C84E4"/>
                </a:gs>
              </a:gsLst>
              <a:lin scaled="0" ang="0"/>
            </a:gradFill>
            <a:ln>
              <a:noFill/>
            </a:ln>
            <a:effectLst>
              <a:outerShdw blurRad="177800" dist="63500" dir="5400000" algn="t" rotWithShape="0">
                <a:srgbClr val="3B5BDB">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852160" y="3429000"/>
              <a:ext cx="777240" cy="7772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3B5BDB"/>
                  </a:solidFill>
                  <a:latin typeface="Calibri"/>
                </a:rPr>
                <a:t>2</a:t>
              </a:r>
            </a:p>
          </p:txBody>
        </p:sp>
        <p:sp>
          <p:nvSpPr>
            <p:cNvPr id="28" name="TextBox 27"/>
            <p:cNvSpPr txBox="1"/>
            <p:nvPr/>
          </p:nvSpPr>
          <p:spPr>
            <a:xfrm>
              <a:off x="6858000" y="3108960"/>
              <a:ext cx="4572000" cy="1417320"/>
            </a:xfrm>
            <a:prstGeom prst="rect">
              <a:avLst/>
            </a:prstGeom>
            <a:noFill/>
          </p:spPr>
          <p:txBody>
            <a:bodyPr wrap="square" lIns="0" rIns="0" tIns="0" bIns="0" anchor="ctr">
              <a:spAutoFit/>
            </a:bodyPr>
            <a:lstStyle/>
            <a:p>
              <a:pPr algn="l"/>
              <a:r>
                <a:rPr sz="2600" b="1">
                  <a:solidFill>
                    <a:srgbClr val="FFFFFF"/>
                  </a:solidFill>
                  <a:latin typeface="Calibri"/>
                </a:rPr>
                <a:t>Reach is their product:</a:t>
              </a:r>
            </a:p>
            <a:p>
              <a:pPr algn="l"/>
              <a:r>
                <a:rPr sz="2600" b="1">
                  <a:solidFill>
                    <a:srgbClr val="FFFFFF"/>
                  </a:solidFill>
                  <a:latin typeface="Calibri"/>
                </a:rPr>
                <a:t>they sell ads</a:t>
              </a:r>
            </a:p>
          </p:txBody>
        </p:sp>
      </p:grpSp>
      <p:grpSp>
        <p:nvGrpSpPr>
          <p:cNvPr id="29" name="Group 28"/>
          <p:cNvGrpSpPr/>
          <p:nvPr/>
        </p:nvGrpSpPr>
        <p:grpSpPr>
          <a:xfrm>
            <a:off x="5577840" y="4663440"/>
            <a:ext cx="5989320" cy="1417320"/>
            <a:chOff x="5577840" y="4663440"/>
            <a:chExt cx="5989320" cy="1417320"/>
          </a:xfrm>
        </p:grpSpPr>
        <p:sp>
          <p:nvSpPr>
            <p:cNvPr id="30" name="Rounded Rectangle 29"/>
            <p:cNvSpPr/>
            <p:nvPr/>
          </p:nvSpPr>
          <p:spPr>
            <a:xfrm>
              <a:off x="5577840" y="4663440"/>
              <a:ext cx="5989320" cy="1417320"/>
            </a:xfrm>
            <a:prstGeom prst="roundRect">
              <a:avLst>
                <a:gd name="adj" fmla="val 12000"/>
              </a:avLst>
            </a:prstGeom>
            <a:gradFill rotWithShape="1">
              <a:gsLst>
                <a:gs pos="0">
                  <a:srgbClr val="E8475A"/>
                </a:gs>
                <a:gs pos="100000">
                  <a:srgbClr val="EE7583"/>
                </a:gs>
              </a:gsLst>
              <a:lin scaled="0" ang="0"/>
            </a:gradFill>
            <a:ln>
              <a:noFill/>
            </a:ln>
            <a:effectLst>
              <a:outerShdw blurRad="177800" dist="63500" dir="5400000" algn="t" rotWithShape="0">
                <a:srgbClr val="E8475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5852160" y="4983479"/>
              <a:ext cx="777240" cy="7772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E8475A"/>
                  </a:solidFill>
                  <a:latin typeface="Calibri"/>
                </a:rPr>
                <a:t>3</a:t>
              </a:r>
            </a:p>
          </p:txBody>
        </p:sp>
        <p:sp>
          <p:nvSpPr>
            <p:cNvPr id="32" name="TextBox 31"/>
            <p:cNvSpPr txBox="1"/>
            <p:nvPr/>
          </p:nvSpPr>
          <p:spPr>
            <a:xfrm>
              <a:off x="6858000" y="4663440"/>
              <a:ext cx="4572000" cy="1417320"/>
            </a:xfrm>
            <a:prstGeom prst="rect">
              <a:avLst/>
            </a:prstGeom>
            <a:noFill/>
          </p:spPr>
          <p:txBody>
            <a:bodyPr wrap="square" lIns="0" rIns="0" tIns="0" bIns="0" anchor="ctr">
              <a:spAutoFit/>
            </a:bodyPr>
            <a:lstStyle/>
            <a:p>
              <a:pPr algn="l"/>
              <a:r>
                <a:rPr sz="2600" b="1">
                  <a:solidFill>
                    <a:srgbClr val="FFFFFF"/>
                  </a:solidFill>
                  <a:latin typeface="Calibri"/>
                </a:rPr>
                <a:t>So Brand24 has to estimate</a:t>
              </a: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9" fill="hold">
                      <p:stCondLst>
                        <p:cond delay="indefinite"/>
                        <p:cond evt="onBegin" delay="0">
                          <p:tn val="2"/>
                        </p:cond>
                      </p:stCondLst>
                      <p:childTnLst>
                        <p:par>
                          <p:cTn id="3" fill="hold">
                            <p:stCondLst>
                              <p:cond delay="0"/>
                            </p:stCondLst>
                            <p:childTnLst>
                              <p:par>
                                <p:cTn id="4" presetID="42" presetClass="entr" presetSubtype="0" fill="hold" nodeType="afterEffect">
                                  <p:stCondLst>
                                    <p:cond delay="0"/>
                                  </p:stCondLst>
                                  <p:childTnLst>
                                    <p:set>
                                      <p:cBhvr>
                                        <p:cTn id="5" dur="1" fill="hold">
                                          <p:stCondLst>
                                            <p:cond delay="0"/>
                                          </p:stCondLst>
                                        </p:cTn>
                                        <p:tgtEl>
                                          <p:spTgt spid="8"/>
                                        </p:tgtEl>
                                        <p:attrNameLst>
                                          <p:attrName>style.visibility</p:attrName>
                                        </p:attrNameLst>
                                      </p:cBhvr>
                                      <p:to>
                                        <p:strVal val="visible"/>
                                      </p:to>
                                    </p:set>
                                    <p:animEffect transition="in" filter="fade">
                                      <p:cBhvr>
                                        <p:cTn id="6" dur="500"/>
                                        <p:tgtEl>
                                          <p:spTgt spid="8"/>
                                        </p:tgtEl>
                                      </p:cBhvr>
                                    </p:animEffec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ppt_y+.08"/>
                                          </p:val>
                                        </p:tav>
                                        <p:tav tm="100000">
                                          <p:val>
                                            <p:strVal val="#ppt_y"/>
                                          </p:val>
                                        </p:tav>
                                      </p:tavLst>
                                    </p:anim>
                                  </p:childTnLst>
                                </p:cTn>
                              </p:par>
                            </p:childTnLst>
                          </p:cTn>
                        </p:par>
                        <p:par>
                          <p:cTn id="9" fill="hold">
                            <p:stCondLst>
                              <p:cond delay="620"/>
                            </p:stCondLst>
                            <p:childTnLst>
                              <p:par>
                                <p:cTn id="10" presetID="42" presetClass="entr" presetSubtype="0" fill="hold" nodeType="after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anim calcmode="lin" valueType="num">
                                      <p:cBhvr additive="base">
                                        <p:cTn id="13" dur="500" fill="hold"/>
                                        <p:tgtEl>
                                          <p:spTgt spid="21"/>
                                        </p:tgtEl>
                                        <p:attrNameLst>
                                          <p:attrName>ppt_x</p:attrName>
                                        </p:attrNameLst>
                                      </p:cBhvr>
                                      <p:tavLst>
                                        <p:tav tm="0">
                                          <p:val>
                                            <p:strVal val="#ppt_x"/>
                                          </p:val>
                                        </p:tav>
                                        <p:tav tm="100000">
                                          <p:val>
                                            <p:strVal val="#ppt_x"/>
                                          </p:val>
                                        </p:tav>
                                      </p:tavLst>
                                    </p:anim>
                                    <p:anim calcmode="lin" valueType="num">
                                      <p:cBhvr additive="base">
                                        <p:cTn id="14" dur="500" fill="hold"/>
                                        <p:tgtEl>
                                          <p:spTgt spid="21"/>
                                        </p:tgtEl>
                                        <p:attrNameLst>
                                          <p:attrName>ppt_y</p:attrName>
                                        </p:attrNameLst>
                                      </p:cBhvr>
                                      <p:tavLst>
                                        <p:tav tm="0">
                                          <p:val>
                                            <p:strVal val="#ppt_y+.08"/>
                                          </p:val>
                                        </p:tav>
                                        <p:tav tm="100000">
                                          <p:val>
                                            <p:strVal val="#ppt_y"/>
                                          </p:val>
                                        </p:tav>
                                      </p:tavLst>
                                    </p:anim>
                                  </p:childTnLst>
                                </p:cTn>
                              </p:par>
                            </p:childTnLst>
                          </p:cTn>
                        </p:par>
                        <p:par>
                          <p:cTn id="15" fill="hold">
                            <p:stCondLst>
                              <p:cond delay="1240"/>
                            </p:stCondLst>
                            <p:childTnLst>
                              <p:par>
                                <p:cTn id="16" presetID="42" presetClass="entr" presetSubtype="0" fill="hold" nodeType="after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fade">
                                      <p:cBhvr>
                                        <p:cTn id="18" dur="500"/>
                                        <p:tgtEl>
                                          <p:spTgt spid="25"/>
                                        </p:tgtEl>
                                      </p:cBhvr>
                                    </p:animEffect>
                                    <p:anim calcmode="lin" valueType="num">
                                      <p:cBhvr additive="base">
                                        <p:cTn id="19" dur="500" fill="hold"/>
                                        <p:tgtEl>
                                          <p:spTgt spid="25"/>
                                        </p:tgtEl>
                                        <p:attrNameLst>
                                          <p:attrName>ppt_x</p:attrName>
                                        </p:attrNameLst>
                                      </p:cBhvr>
                                      <p:tavLst>
                                        <p:tav tm="0">
                                          <p:val>
                                            <p:strVal val="#ppt_x"/>
                                          </p:val>
                                        </p:tav>
                                        <p:tav tm="100000">
                                          <p:val>
                                            <p:strVal val="#ppt_x"/>
                                          </p:val>
                                        </p:tav>
                                      </p:tavLst>
                                    </p:anim>
                                    <p:anim calcmode="lin" valueType="num">
                                      <p:cBhvr additive="base">
                                        <p:cTn id="20" dur="500" fill="hold"/>
                                        <p:tgtEl>
                                          <p:spTgt spid="25"/>
                                        </p:tgtEl>
                                        <p:attrNameLst>
                                          <p:attrName>ppt_y</p:attrName>
                                        </p:attrNameLst>
                                      </p:cBhvr>
                                      <p:tavLst>
                                        <p:tav tm="0">
                                          <p:val>
                                            <p:strVal val="#ppt_y+.08"/>
                                          </p:val>
                                        </p:tav>
                                        <p:tav tm="100000">
                                          <p:val>
                                            <p:strVal val="#ppt_y"/>
                                          </p:val>
                                        </p:tav>
                                      </p:tavLst>
                                    </p:anim>
                                  </p:childTnLst>
                                </p:cTn>
                              </p:par>
                            </p:childTnLst>
                          </p:cTn>
                        </p:par>
                        <p:par>
                          <p:cTn id="21" fill="hold">
                            <p:stCondLst>
                              <p:cond delay="1860"/>
                            </p:stCondLst>
                            <p:childTnLst>
                              <p:par>
                                <p:cTn id="22" presetID="42" presetClass="entr" presetSubtype="0" fill="hold" nodeType="after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500"/>
                                        <p:tgtEl>
                                          <p:spTgt spid="29"/>
                                        </p:tgtEl>
                                      </p:cBhvr>
                                    </p:animEffect>
                                    <p:anim calcmode="lin" valueType="num">
                                      <p:cBhvr additive="base">
                                        <p:cTn id="25" dur="500" fill="hold"/>
                                        <p:tgtEl>
                                          <p:spTgt spid="29"/>
                                        </p:tgtEl>
                                        <p:attrNameLst>
                                          <p:attrName>ppt_x</p:attrName>
                                        </p:attrNameLst>
                                      </p:cBhvr>
                                      <p:tavLst>
                                        <p:tav tm="0">
                                          <p:val>
                                            <p:strVal val="#ppt_x"/>
                                          </p:val>
                                        </p:tav>
                                        <p:tav tm="100000">
                                          <p:val>
                                            <p:strVal val="#ppt_x"/>
                                          </p:val>
                                        </p:tav>
                                      </p:tavLst>
                                    </p:anim>
                                    <p:anim calcmode="lin" valueType="num">
                                      <p:cBhvr additive="base">
                                        <p:cTn id="26" dur="500" fill="hold"/>
                                        <p:tgtEl>
                                          <p:spTgt spid="29"/>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8EF"/>
        </a:solidFill>
        <a:effectLst/>
      </p:bgPr>
    </p:bg>
    <p:spTree>
      <p:nvGrpSpPr>
        <p:cNvPr id="1" name=""/>
        <p:cNvGrpSpPr/>
        <p:nvPr/>
      </p:nvGrpSpPr>
      <p:grpSpPr/>
      <p:sp>
        <p:nvSpPr>
          <p:cNvPr id="2" name="!!b1"/>
          <p:cNvSpPr/>
          <p:nvPr/>
        </p:nvSpPr>
        <p:spPr>
          <a:xfrm>
            <a:off x="10881360" y="-1097280"/>
            <a:ext cx="2377440" cy="2377440"/>
          </a:xfrm>
          <a:prstGeom prst="ellipse">
            <a:avLst/>
          </a:prstGeom>
          <a:solidFill>
            <a:srgbClr val="E8475A">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b2"/>
          <p:cNvSpPr/>
          <p:nvPr/>
        </p:nvSpPr>
        <p:spPr>
          <a:xfrm>
            <a:off x="-640080" y="5943600"/>
            <a:ext cx="1463040" cy="1463040"/>
          </a:xfrm>
          <a:prstGeom prst="ellipse">
            <a:avLst/>
          </a:prstGeom>
          <a:solidFill>
            <a:srgbClr val="FFC247">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3"/>
          <p:cNvSpPr/>
          <p:nvPr/>
        </p:nvSpPr>
        <p:spPr>
          <a:xfrm>
            <a:off x="11612880" y="3108960"/>
            <a:ext cx="822960" cy="822960"/>
          </a:xfrm>
          <a:prstGeom prst="ellipse">
            <a:avLst/>
          </a:prstGeom>
          <a:solidFill>
            <a:srgbClr val="3B5BDB">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rogress"/>
          <p:cNvSpPr/>
          <p:nvPr/>
        </p:nvSpPr>
        <p:spPr>
          <a:xfrm>
            <a:off x="0" y="6748272"/>
            <a:ext cx="5225012" cy="109728"/>
          </a:xfrm>
          <a:prstGeom prst="rect">
            <a:avLst/>
          </a:prstGeom>
          <a:solidFill>
            <a:srgbClr val="E84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ot"/>
          <p:cNvSpPr/>
          <p:nvPr/>
        </p:nvSpPr>
        <p:spPr>
          <a:xfrm>
            <a:off x="640080" y="566928"/>
            <a:ext cx="310896" cy="310896"/>
          </a:xfrm>
          <a:prstGeom prst="ellipse">
            <a:avLst/>
          </a:prstGeom>
          <a:solidFill>
            <a:srgbClr val="E84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365760"/>
            <a:ext cx="10424160" cy="731520"/>
          </a:xfrm>
          <a:prstGeom prst="rect">
            <a:avLst/>
          </a:prstGeom>
          <a:noFill/>
        </p:spPr>
        <p:txBody>
          <a:bodyPr wrap="square" lIns="0" rIns="0" tIns="0" bIns="0" anchor="ctr">
            <a:spAutoFit/>
          </a:bodyPr>
          <a:lstStyle/>
          <a:p>
            <a:pPr algn="l"/>
            <a:r>
              <a:rPr sz="3800" b="1">
                <a:solidFill>
                  <a:srgbClr val="1E1740"/>
                </a:solidFill>
                <a:latin typeface="Calibri"/>
              </a:rPr>
              <a:t>Our hypothesis</a:t>
            </a:r>
          </a:p>
        </p:txBody>
      </p:sp>
      <p:grpSp>
        <p:nvGrpSpPr>
          <p:cNvPr id="8" name="Group 7"/>
          <p:cNvGrpSpPr/>
          <p:nvPr/>
        </p:nvGrpSpPr>
        <p:grpSpPr>
          <a:xfrm>
            <a:off x="640080" y="1463040"/>
            <a:ext cx="10927080" cy="1417320"/>
            <a:chOff x="640080" y="1463040"/>
            <a:chExt cx="10927080" cy="1417320"/>
          </a:xfrm>
        </p:grpSpPr>
        <p:sp>
          <p:nvSpPr>
            <p:cNvPr id="9" name="Rounded Rectangle 8"/>
            <p:cNvSpPr/>
            <p:nvPr/>
          </p:nvSpPr>
          <p:spPr>
            <a:xfrm>
              <a:off x="640080" y="1463040"/>
              <a:ext cx="10927080" cy="1417320"/>
            </a:xfrm>
            <a:prstGeom prst="roundRect">
              <a:avLst>
                <a:gd name="adj" fmla="val 12000"/>
              </a:avLst>
            </a:prstGeom>
            <a:gradFill rotWithShape="1">
              <a:gsLst>
                <a:gs pos="0">
                  <a:srgbClr val="2D1E5F"/>
                </a:gs>
                <a:gs pos="100000">
                  <a:srgbClr val="4B3591"/>
                </a:gs>
              </a:gsLst>
              <a:lin scaled="0" ang="0"/>
            </a:gradFill>
            <a:ln>
              <a:noFill/>
            </a:ln>
            <a:effectLst>
              <a:outerShdw blurRad="228600" dist="76200" dir="5400000" algn="t" rotWithShape="0">
                <a:srgbClr val="2D1E5F">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1572768"/>
              <a:ext cx="3657600" cy="365760"/>
            </a:xfrm>
            <a:prstGeom prst="rect">
              <a:avLst/>
            </a:prstGeom>
            <a:noFill/>
          </p:spPr>
          <p:txBody>
            <a:bodyPr wrap="square" lIns="0" rIns="0" tIns="0" bIns="0" anchor="t">
              <a:spAutoFit/>
            </a:bodyPr>
            <a:lstStyle/>
            <a:p>
              <a:pPr algn="l"/>
              <a:r>
                <a:rPr sz="1800" b="1">
                  <a:solidFill>
                    <a:srgbClr val="FFC247"/>
                  </a:solidFill>
                  <a:latin typeface="Calibri"/>
                </a:rPr>
                <a:t>HYPOTHESIS</a:t>
              </a:r>
            </a:p>
          </p:txBody>
        </p:sp>
        <p:sp>
          <p:nvSpPr>
            <p:cNvPr id="11" name="TextBox 10"/>
            <p:cNvSpPr txBox="1"/>
            <p:nvPr/>
          </p:nvSpPr>
          <p:spPr>
            <a:xfrm>
              <a:off x="960120" y="1920240"/>
              <a:ext cx="10332720" cy="868680"/>
            </a:xfrm>
            <a:prstGeom prst="rect">
              <a:avLst/>
            </a:prstGeom>
            <a:noFill/>
          </p:spPr>
          <p:txBody>
            <a:bodyPr wrap="square" lIns="0" rIns="0" tIns="0" bIns="0" anchor="t">
              <a:spAutoFit/>
            </a:bodyPr>
            <a:lstStyle/>
            <a:p>
              <a:pPr algn="l"/>
              <a:r>
                <a:rPr sz="2400" b="1">
                  <a:solidFill>
                    <a:srgbClr val="FFFFFF"/>
                  </a:solidFill>
                  <a:latin typeface="Calibri"/>
                </a:rPr>
                <a:t>We will estimate post visibility better than the Brand24 rule</a:t>
              </a:r>
            </a:p>
            <a:p>
              <a:pPr algn="l"/>
              <a:r>
                <a:rPr sz="2400" b="1">
                  <a:solidFill>
                    <a:srgbClr val="FFFFFF"/>
                  </a:solidFill>
                  <a:latin typeface="Calibri"/>
                </a:rPr>
                <a:t>by combining followers with reactions: likes, comments, shares</a:t>
              </a:r>
            </a:p>
          </p:txBody>
        </p:sp>
      </p:grpSp>
      <p:grpSp>
        <p:nvGrpSpPr>
          <p:cNvPr id="12" name="Group 11"/>
          <p:cNvGrpSpPr/>
          <p:nvPr/>
        </p:nvGrpSpPr>
        <p:grpSpPr>
          <a:xfrm>
            <a:off x="640080" y="3108960"/>
            <a:ext cx="4937760" cy="2103120"/>
            <a:chOff x="640080" y="3108960"/>
            <a:chExt cx="4937760" cy="2103120"/>
          </a:xfrm>
        </p:grpSpPr>
        <p:sp>
          <p:nvSpPr>
            <p:cNvPr id="13" name="Rounded Rectangle 12"/>
            <p:cNvSpPr/>
            <p:nvPr/>
          </p:nvSpPr>
          <p:spPr>
            <a:xfrm>
              <a:off x="640080" y="3108960"/>
              <a:ext cx="4937760" cy="2103120"/>
            </a:xfrm>
            <a:prstGeom prst="roundRect">
              <a:avLst>
                <a:gd name="adj" fmla="val 7000"/>
              </a:avLst>
            </a:prstGeom>
            <a:solidFill>
              <a:srgbClr val="FFFFFF"/>
            </a:solidFill>
            <a:ln w="19050">
              <a:solidFill>
                <a:srgbClr val="E6DDEE"/>
              </a:solidFill>
            </a:ln>
            <a:effectLst>
              <a:outerShdw blurRad="203200" dist="63500" dir="5400000" algn="t" rotWithShape="0">
                <a:srgbClr val="2D1E5F">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218688"/>
              <a:ext cx="4389120" cy="411480"/>
            </a:xfrm>
            <a:prstGeom prst="rect">
              <a:avLst/>
            </a:prstGeom>
            <a:noFill/>
          </p:spPr>
          <p:txBody>
            <a:bodyPr wrap="square" lIns="0" rIns="0" tIns="0" bIns="0" anchor="t">
              <a:spAutoFit/>
            </a:bodyPr>
            <a:lstStyle/>
            <a:p>
              <a:pPr algn="l"/>
              <a:r>
                <a:rPr sz="2000" b="1">
                  <a:solidFill>
                    <a:srgbClr val="5E5878"/>
                  </a:solidFill>
                  <a:latin typeface="Calibri"/>
                </a:rPr>
                <a:t>TODAY</a:t>
              </a:r>
            </a:p>
          </p:txBody>
        </p:sp>
        <p:sp>
          <p:nvSpPr>
            <p:cNvPr id="15" name="TextBox 14"/>
            <p:cNvSpPr txBox="1"/>
            <p:nvPr/>
          </p:nvSpPr>
          <p:spPr>
            <a:xfrm>
              <a:off x="914400" y="3584448"/>
              <a:ext cx="4389120" cy="457200"/>
            </a:xfrm>
            <a:prstGeom prst="rect">
              <a:avLst/>
            </a:prstGeom>
            <a:noFill/>
          </p:spPr>
          <p:txBody>
            <a:bodyPr wrap="square" lIns="0" rIns="0" tIns="0" bIns="0" anchor="t">
              <a:spAutoFit/>
            </a:bodyPr>
            <a:lstStyle/>
            <a:p>
              <a:pPr algn="l"/>
              <a:r>
                <a:rPr sz="2800" b="1">
                  <a:solidFill>
                    <a:srgbClr val="1E1740"/>
                  </a:solidFill>
                  <a:latin typeface="Calibri"/>
                </a:rPr>
                <a:t>A single number</a:t>
              </a:r>
            </a:p>
          </p:txBody>
        </p:sp>
        <p:sp>
          <p:nvSpPr>
            <p:cNvPr id="16" name="Rectangle 15"/>
            <p:cNvSpPr/>
            <p:nvPr/>
          </p:nvSpPr>
          <p:spPr>
            <a:xfrm>
              <a:off x="914400" y="4370832"/>
              <a:ext cx="4389120" cy="54864"/>
            </a:xfrm>
            <a:prstGeom prst="rect">
              <a:avLst/>
            </a:prstGeom>
            <a:solidFill>
              <a:srgbClr val="E6D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880360" y="4187952"/>
              <a:ext cx="420624" cy="420624"/>
            </a:xfrm>
            <a:prstGeom prst="ellipse">
              <a:avLst/>
            </a:prstGeom>
            <a:solidFill>
              <a:srgbClr val="E84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709160"/>
              <a:ext cx="4389120" cy="411480"/>
            </a:xfrm>
            <a:prstGeom prst="rect">
              <a:avLst/>
            </a:prstGeom>
            <a:noFill/>
          </p:spPr>
          <p:txBody>
            <a:bodyPr wrap="square" lIns="0" rIns="0" tIns="0" bIns="0" anchor="t">
              <a:spAutoFit/>
            </a:bodyPr>
            <a:lstStyle/>
            <a:p>
              <a:pPr algn="l"/>
              <a:r>
                <a:rPr sz="2000" b="0">
                  <a:solidFill>
                    <a:srgbClr val="5E5878"/>
                  </a:solidFill>
                  <a:latin typeface="Calibri"/>
                </a:rPr>
                <a:t>followers × constant</a:t>
              </a:r>
            </a:p>
          </p:txBody>
        </p:sp>
      </p:grpSp>
      <p:grpSp>
        <p:nvGrpSpPr>
          <p:cNvPr id="19" name="Group 18"/>
          <p:cNvGrpSpPr/>
          <p:nvPr/>
        </p:nvGrpSpPr>
        <p:grpSpPr>
          <a:xfrm>
            <a:off x="5669280" y="3108960"/>
            <a:ext cx="5897880" cy="2103120"/>
            <a:chOff x="5669280" y="3108960"/>
            <a:chExt cx="5897880" cy="2103120"/>
          </a:xfrm>
        </p:grpSpPr>
        <p:sp>
          <p:nvSpPr>
            <p:cNvPr id="20" name="Right Arrow 19"/>
            <p:cNvSpPr/>
            <p:nvPr/>
          </p:nvSpPr>
          <p:spPr>
            <a:xfrm>
              <a:off x="5669280" y="3886200"/>
              <a:ext cx="594360" cy="548640"/>
            </a:xfrm>
            <a:prstGeom prst="rightArrow">
              <a:avLst/>
            </a:prstGeom>
            <a:solidFill>
              <a:srgbClr val="FFC247"/>
            </a:solidFill>
            <a:ln>
              <a:noFill/>
            </a:ln>
            <a:effectLst>
              <a:outerShdw blurRad="101600" dist="38100" dir="5400000" algn="t" rotWithShape="0">
                <a:srgbClr val="2D1E5F">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55080" y="3108960"/>
              <a:ext cx="5212080" cy="2103120"/>
            </a:xfrm>
            <a:prstGeom prst="roundRect">
              <a:avLst>
                <a:gd name="adj" fmla="val 7000"/>
              </a:avLst>
            </a:prstGeom>
            <a:solidFill>
              <a:srgbClr val="FFFFFF"/>
            </a:solidFill>
            <a:ln w="38100">
              <a:solidFill>
                <a:srgbClr val="3B5BDB"/>
              </a:solidFill>
            </a:ln>
            <a:effectLst>
              <a:outerShdw blurRad="203200" dist="63500" dir="5400000" algn="t" rotWithShape="0">
                <a:srgbClr val="2D1E5F">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400" y="3218688"/>
              <a:ext cx="4663440" cy="411480"/>
            </a:xfrm>
            <a:prstGeom prst="rect">
              <a:avLst/>
            </a:prstGeom>
            <a:noFill/>
          </p:spPr>
          <p:txBody>
            <a:bodyPr wrap="square" lIns="0" rIns="0" tIns="0" bIns="0" anchor="t">
              <a:spAutoFit/>
            </a:bodyPr>
            <a:lstStyle/>
            <a:p>
              <a:pPr algn="l"/>
              <a:r>
                <a:rPr sz="2000" b="1">
                  <a:solidFill>
                    <a:srgbClr val="3B5BDB"/>
                  </a:solidFill>
                  <a:latin typeface="Calibri"/>
                </a:rPr>
                <a:t>OUR IDEA</a:t>
              </a:r>
            </a:p>
          </p:txBody>
        </p:sp>
        <p:sp>
          <p:nvSpPr>
            <p:cNvPr id="23" name="TextBox 22"/>
            <p:cNvSpPr txBox="1"/>
            <p:nvPr/>
          </p:nvSpPr>
          <p:spPr>
            <a:xfrm>
              <a:off x="6629400" y="3584448"/>
              <a:ext cx="4663440" cy="457200"/>
            </a:xfrm>
            <a:prstGeom prst="rect">
              <a:avLst/>
            </a:prstGeom>
            <a:noFill/>
          </p:spPr>
          <p:txBody>
            <a:bodyPr wrap="square" lIns="0" rIns="0" tIns="0" bIns="0" anchor="t">
              <a:spAutoFit/>
            </a:bodyPr>
            <a:lstStyle/>
            <a:p>
              <a:pPr algn="l"/>
              <a:r>
                <a:rPr sz="2800" b="1">
                  <a:solidFill>
                    <a:srgbClr val="1E1740"/>
                  </a:solidFill>
                  <a:latin typeface="Calibri"/>
                </a:rPr>
                <a:t>Estimate + interval</a:t>
              </a:r>
            </a:p>
          </p:txBody>
        </p:sp>
        <p:sp>
          <p:nvSpPr>
            <p:cNvPr id="24" name="Rectangle 23"/>
            <p:cNvSpPr/>
            <p:nvPr/>
          </p:nvSpPr>
          <p:spPr>
            <a:xfrm>
              <a:off x="6629400" y="4370832"/>
              <a:ext cx="4663440" cy="54864"/>
            </a:xfrm>
            <a:prstGeom prst="rect">
              <a:avLst/>
            </a:prstGeom>
            <a:solidFill>
              <a:srgbClr val="E6D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680960" y="4142232"/>
              <a:ext cx="2377440" cy="512064"/>
            </a:xfrm>
            <a:prstGeom prst="roundRect">
              <a:avLst>
                <a:gd name="adj" fmla="val 50000"/>
              </a:avLst>
            </a:prstGeom>
            <a:gradFill rotWithShape="1">
              <a:gsLst>
                <a:gs pos="0">
                  <a:srgbClr val="EEF2FF"/>
                </a:gs>
                <a:gs pos="100000">
                  <a:srgbClr val="C9D6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650224" y="4187952"/>
              <a:ext cx="420624" cy="420624"/>
            </a:xfrm>
            <a:prstGeom prst="ellipse">
              <a:avLst/>
            </a:prstGeom>
            <a:solidFill>
              <a:srgbClr val="3B5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29400" y="4709160"/>
              <a:ext cx="4663440" cy="411480"/>
            </a:xfrm>
            <a:prstGeom prst="rect">
              <a:avLst/>
            </a:prstGeom>
            <a:noFill/>
          </p:spPr>
          <p:txBody>
            <a:bodyPr wrap="square" lIns="0" rIns="0" tIns="0" bIns="0" anchor="t">
              <a:spAutoFit/>
            </a:bodyPr>
            <a:lstStyle/>
            <a:p>
              <a:pPr algn="l"/>
              <a:r>
                <a:rPr sz="2000" b="0">
                  <a:solidFill>
                    <a:srgbClr val="5E5878"/>
                  </a:solidFill>
                  <a:latin typeface="Calibri"/>
                </a:rPr>
                <a:t>We also know when not to trust it</a:t>
              </a:r>
            </a:p>
          </p:txBody>
        </p:sp>
      </p:grpSp>
      <p:grpSp>
        <p:nvGrpSpPr>
          <p:cNvPr id="28" name="Group 27"/>
          <p:cNvGrpSpPr/>
          <p:nvPr/>
        </p:nvGrpSpPr>
        <p:grpSpPr>
          <a:xfrm>
            <a:off x="640080" y="5440680"/>
            <a:ext cx="10927080" cy="868680"/>
            <a:chOff x="640080" y="5440680"/>
            <a:chExt cx="10927080" cy="868680"/>
          </a:xfrm>
        </p:grpSpPr>
        <p:sp>
          <p:nvSpPr>
            <p:cNvPr id="29" name="Rounded Rectangle 28"/>
            <p:cNvSpPr/>
            <p:nvPr/>
          </p:nvSpPr>
          <p:spPr>
            <a:xfrm>
              <a:off x="640080" y="5440680"/>
              <a:ext cx="10927080" cy="868680"/>
            </a:xfrm>
            <a:prstGeom prst="roundRect">
              <a:avLst>
                <a:gd name="adj" fmla="val 7000"/>
              </a:avLst>
            </a:prstGeom>
            <a:solidFill>
              <a:srgbClr val="FFFFFF"/>
            </a:solidFill>
            <a:ln w="31750">
              <a:solidFill>
                <a:srgbClr val="E8475A"/>
              </a:solidFill>
            </a:ln>
            <a:effectLst>
              <a:outerShdw blurRad="203200" dist="63500" dir="5400000" algn="t" rotWithShape="0">
                <a:srgbClr val="2D1E5F">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440680"/>
              <a:ext cx="10332720" cy="868680"/>
            </a:xfrm>
            <a:prstGeom prst="rect">
              <a:avLst/>
            </a:prstGeom>
            <a:noFill/>
          </p:spPr>
          <p:txBody>
            <a:bodyPr wrap="square" lIns="0" rIns="0" tIns="0" bIns="0" anchor="ctr">
              <a:spAutoFit/>
            </a:bodyPr>
            <a:lstStyle/>
            <a:p>
              <a:pPr algn="l"/>
              <a:r>
                <a:rPr sz="2200" b="1">
                  <a:solidFill>
                    <a:srgbClr val="E8475A"/>
                  </a:solidFill>
                  <a:latin typeface="Calibri"/>
                </a:rPr>
                <a:t>Refuted if the model does not beat the Brand24 rule on posts with known views</a:t>
              </a: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9" fill="hold">
                      <p:stCondLst>
                        <p:cond delay="indefinite"/>
                        <p:cond evt="onBegin" delay="0">
                          <p:tn val="2"/>
                        </p:cond>
                      </p:stCondLst>
                      <p:childTnLst>
                        <p:par>
                          <p:cTn id="3" fill="hold">
                            <p:stCondLst>
                              <p:cond delay="0"/>
                            </p:stCondLst>
                            <p:childTnLst>
                              <p:par>
                                <p:cTn id="4" presetID="42" presetClass="entr" presetSubtype="0" fill="hold" nodeType="afterEffect">
                                  <p:stCondLst>
                                    <p:cond delay="0"/>
                                  </p:stCondLst>
                                  <p:childTnLst>
                                    <p:set>
                                      <p:cBhvr>
                                        <p:cTn id="5" dur="1" fill="hold">
                                          <p:stCondLst>
                                            <p:cond delay="0"/>
                                          </p:stCondLst>
                                        </p:cTn>
                                        <p:tgtEl>
                                          <p:spTgt spid="8"/>
                                        </p:tgtEl>
                                        <p:attrNameLst>
                                          <p:attrName>style.visibility</p:attrName>
                                        </p:attrNameLst>
                                      </p:cBhvr>
                                      <p:to>
                                        <p:strVal val="visible"/>
                                      </p:to>
                                    </p:set>
                                    <p:animEffect transition="in" filter="fade">
                                      <p:cBhvr>
                                        <p:cTn id="6" dur="500"/>
                                        <p:tgtEl>
                                          <p:spTgt spid="8"/>
                                        </p:tgtEl>
                                      </p:cBhvr>
                                    </p:animEffec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ppt_y+.08"/>
                                          </p:val>
                                        </p:tav>
                                        <p:tav tm="100000">
                                          <p:val>
                                            <p:strVal val="#ppt_y"/>
                                          </p:val>
                                        </p:tav>
                                      </p:tavLst>
                                    </p:anim>
                                  </p:childTnLst>
                                </p:cTn>
                              </p:par>
                            </p:childTnLst>
                          </p:cTn>
                        </p:par>
                        <p:par>
                          <p:cTn id="9" fill="hold">
                            <p:stCondLst>
                              <p:cond delay="620"/>
                            </p:stCondLst>
                            <p:childTnLst>
                              <p:par>
                                <p:cTn id="10" presetID="42" presetClass="entr" presetSubtype="0" fill="hold" nodeType="after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ppt_y+.08"/>
                                          </p:val>
                                        </p:tav>
                                        <p:tav tm="100000">
                                          <p:val>
                                            <p:strVal val="#ppt_y"/>
                                          </p:val>
                                        </p:tav>
                                      </p:tavLst>
                                    </p:anim>
                                  </p:childTnLst>
                                </p:cTn>
                              </p:par>
                            </p:childTnLst>
                          </p:cTn>
                        </p:par>
                        <p:par>
                          <p:cTn id="15" fill="hold">
                            <p:stCondLst>
                              <p:cond delay="1240"/>
                            </p:stCondLst>
                            <p:childTnLst>
                              <p:par>
                                <p:cTn id="16" presetID="42" presetClass="entr" presetSubtype="0" fill="hold" nodeType="after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500"/>
                                        <p:tgtEl>
                                          <p:spTgt spid="19"/>
                                        </p:tgtEl>
                                      </p:cBhvr>
                                    </p:animEffect>
                                    <p:anim calcmode="lin" valueType="num">
                                      <p:cBhvr additive="base">
                                        <p:cTn id="19" dur="500" fill="hold"/>
                                        <p:tgtEl>
                                          <p:spTgt spid="19"/>
                                        </p:tgtEl>
                                        <p:attrNameLst>
                                          <p:attrName>ppt_x</p:attrName>
                                        </p:attrNameLst>
                                      </p:cBhvr>
                                      <p:tavLst>
                                        <p:tav tm="0">
                                          <p:val>
                                            <p:strVal val="#ppt_x"/>
                                          </p:val>
                                        </p:tav>
                                        <p:tav tm="100000">
                                          <p:val>
                                            <p:strVal val="#ppt_x"/>
                                          </p:val>
                                        </p:tav>
                                      </p:tavLst>
                                    </p:anim>
                                    <p:anim calcmode="lin" valueType="num">
                                      <p:cBhvr additive="base">
                                        <p:cTn id="20" dur="500" fill="hold"/>
                                        <p:tgtEl>
                                          <p:spTgt spid="19"/>
                                        </p:tgtEl>
                                        <p:attrNameLst>
                                          <p:attrName>ppt_y</p:attrName>
                                        </p:attrNameLst>
                                      </p:cBhvr>
                                      <p:tavLst>
                                        <p:tav tm="0">
                                          <p:val>
                                            <p:strVal val="#ppt_y+.08"/>
                                          </p:val>
                                        </p:tav>
                                        <p:tav tm="100000">
                                          <p:val>
                                            <p:strVal val="#ppt_y"/>
                                          </p:val>
                                        </p:tav>
                                      </p:tavLst>
                                    </p:anim>
                                  </p:childTnLst>
                                </p:cTn>
                              </p:par>
                            </p:childTnLst>
                          </p:cTn>
                        </p:par>
                        <p:par>
                          <p:cTn id="21" fill="hold">
                            <p:stCondLst>
                              <p:cond delay="1860"/>
                            </p:stCondLst>
                            <p:childTnLst>
                              <p:par>
                                <p:cTn id="22" presetID="42" presetClass="entr" presetSubtype="0" fill="hold" nodeType="after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500"/>
                                        <p:tgtEl>
                                          <p:spTgt spid="28"/>
                                        </p:tgtEl>
                                      </p:cBhvr>
                                    </p:animEffect>
                                    <p:anim calcmode="lin" valueType="num">
                                      <p:cBhvr additive="base">
                                        <p:cTn id="25" dur="500" fill="hold"/>
                                        <p:tgtEl>
                                          <p:spTgt spid="28"/>
                                        </p:tgtEl>
                                        <p:attrNameLst>
                                          <p:attrName>ppt_x</p:attrName>
                                        </p:attrNameLst>
                                      </p:cBhvr>
                                      <p:tavLst>
                                        <p:tav tm="0">
                                          <p:val>
                                            <p:strVal val="#ppt_x"/>
                                          </p:val>
                                        </p:tav>
                                        <p:tav tm="100000">
                                          <p:val>
                                            <p:strVal val="#ppt_x"/>
                                          </p:val>
                                        </p:tav>
                                      </p:tavLst>
                                    </p:anim>
                                    <p:anim calcmode="lin" valueType="num">
                                      <p:cBhvr additive="base">
                                        <p:cTn id="26" dur="500" fill="hold"/>
                                        <p:tgtEl>
                                          <p:spTgt spid="28"/>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8EF"/>
        </a:solidFill>
        <a:effectLst/>
      </p:bgPr>
    </p:bg>
    <p:spTree>
      <p:nvGrpSpPr>
        <p:cNvPr id="1" name=""/>
        <p:cNvGrpSpPr/>
        <p:nvPr/>
      </p:nvGrpSpPr>
      <p:grpSpPr/>
      <p:sp>
        <p:nvSpPr>
          <p:cNvPr id="2" name="!!b1"/>
          <p:cNvSpPr/>
          <p:nvPr/>
        </p:nvSpPr>
        <p:spPr>
          <a:xfrm>
            <a:off x="11247120" y="-822960"/>
            <a:ext cx="2011680" cy="2011680"/>
          </a:xfrm>
          <a:prstGeom prst="ellipse">
            <a:avLst/>
          </a:prstGeom>
          <a:solidFill>
            <a:srgbClr val="E8475A">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b2"/>
          <p:cNvSpPr/>
          <p:nvPr/>
        </p:nvSpPr>
        <p:spPr>
          <a:xfrm>
            <a:off x="11338560" y="5943600"/>
            <a:ext cx="1645920" cy="1645920"/>
          </a:xfrm>
          <a:prstGeom prst="ellipse">
            <a:avLst/>
          </a:prstGeom>
          <a:solidFill>
            <a:srgbClr val="FFC247">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3"/>
          <p:cNvSpPr/>
          <p:nvPr/>
        </p:nvSpPr>
        <p:spPr>
          <a:xfrm>
            <a:off x="-457200" y="6217920"/>
            <a:ext cx="1005840" cy="1005840"/>
          </a:xfrm>
          <a:prstGeom prst="ellipse">
            <a:avLst/>
          </a:prstGeom>
          <a:solidFill>
            <a:srgbClr val="3B5BDB">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rogress"/>
          <p:cNvSpPr/>
          <p:nvPr/>
        </p:nvSpPr>
        <p:spPr>
          <a:xfrm>
            <a:off x="0" y="6748272"/>
            <a:ext cx="6966682" cy="109728"/>
          </a:xfrm>
          <a:prstGeom prst="rect">
            <a:avLst/>
          </a:prstGeom>
          <a:solidFill>
            <a:srgbClr val="E84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ot"/>
          <p:cNvSpPr/>
          <p:nvPr/>
        </p:nvSpPr>
        <p:spPr>
          <a:xfrm>
            <a:off x="640080" y="566928"/>
            <a:ext cx="310896" cy="310896"/>
          </a:xfrm>
          <a:prstGeom prst="ellipse">
            <a:avLst/>
          </a:prstGeom>
          <a:solidFill>
            <a:srgbClr val="1FB5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365760"/>
            <a:ext cx="10424160" cy="731520"/>
          </a:xfrm>
          <a:prstGeom prst="rect">
            <a:avLst/>
          </a:prstGeom>
          <a:noFill/>
        </p:spPr>
        <p:txBody>
          <a:bodyPr wrap="square" lIns="0" rIns="0" tIns="0" bIns="0" anchor="ctr">
            <a:spAutoFit/>
          </a:bodyPr>
          <a:lstStyle/>
          <a:p>
            <a:pPr algn="l"/>
            <a:r>
              <a:rPr sz="3800" b="1">
                <a:solidFill>
                  <a:srgbClr val="1E1740"/>
                </a:solidFill>
                <a:latin typeface="Calibri"/>
              </a:rPr>
              <a:t>How we will tackle it: the concept</a:t>
            </a:r>
          </a:p>
        </p:txBody>
      </p:sp>
      <p:grpSp>
        <p:nvGrpSpPr>
          <p:cNvPr id="8" name="Group 7"/>
          <p:cNvGrpSpPr/>
          <p:nvPr/>
        </p:nvGrpSpPr>
        <p:grpSpPr>
          <a:xfrm>
            <a:off x="640080" y="1600200"/>
            <a:ext cx="2834640" cy="2606040"/>
            <a:chOff x="640080" y="1600200"/>
            <a:chExt cx="2834640" cy="2606040"/>
          </a:xfrm>
        </p:grpSpPr>
        <p:sp>
          <p:nvSpPr>
            <p:cNvPr id="9" name="Pentagon 8"/>
            <p:cNvSpPr/>
            <p:nvPr/>
          </p:nvSpPr>
          <p:spPr>
            <a:xfrm>
              <a:off x="640080" y="1600200"/>
              <a:ext cx="2834640" cy="1280160"/>
            </a:xfrm>
            <a:prstGeom prst="homePlate">
              <a:avLst>
                <a:gd name="adj" fmla="val 30000"/>
              </a:avLst>
            </a:prstGeom>
            <a:gradFill rotWithShape="1">
              <a:gsLst>
                <a:gs pos="0">
                  <a:srgbClr val="2D1E5F"/>
                </a:gs>
                <a:gs pos="100000">
                  <a:srgbClr val="5B5082"/>
                </a:gs>
              </a:gsLst>
              <a:lin scaled="0" ang="0"/>
            </a:gradFill>
            <a:ln>
              <a:noFill/>
            </a:ln>
            <a:effectLst>
              <a:outerShdw blurRad="152400" dist="50800" dir="5400000" algn="t" rotWithShape="0">
                <a:srgbClr val="2D1E5F">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600200"/>
              <a:ext cx="640080" cy="1280160"/>
            </a:xfrm>
            <a:prstGeom prst="rect">
              <a:avLst/>
            </a:prstGeom>
            <a:noFill/>
          </p:spPr>
          <p:txBody>
            <a:bodyPr wrap="square" lIns="0" rIns="0" tIns="0" bIns="0" anchor="ctr">
              <a:spAutoFit/>
            </a:bodyPr>
            <a:lstStyle/>
            <a:p>
              <a:pPr algn="l"/>
              <a:r>
                <a:rPr sz="4400" b="1">
                  <a:solidFill>
                    <a:srgbClr val="FFFFFF"/>
                  </a:solidFill>
                  <a:latin typeface="Calibri"/>
                </a:rPr>
                <a:t>1</a:t>
              </a:r>
            </a:p>
          </p:txBody>
        </p:sp>
        <p:sp>
          <p:nvSpPr>
            <p:cNvPr id="11" name="TextBox 10"/>
            <p:cNvSpPr txBox="1"/>
            <p:nvPr/>
          </p:nvSpPr>
          <p:spPr>
            <a:xfrm>
              <a:off x="1554480" y="1600200"/>
              <a:ext cx="1554480" cy="1280160"/>
            </a:xfrm>
            <a:prstGeom prst="rect">
              <a:avLst/>
            </a:prstGeom>
            <a:noFill/>
          </p:spPr>
          <p:txBody>
            <a:bodyPr wrap="square" lIns="0" rIns="0" tIns="0" bIns="0" anchor="ctr">
              <a:spAutoFit/>
            </a:bodyPr>
            <a:lstStyle/>
            <a:p>
              <a:pPr algn="l"/>
              <a:r>
                <a:rPr sz="2400" b="1">
                  <a:solidFill>
                    <a:srgbClr val="FFFFFF"/>
                  </a:solidFill>
                  <a:latin typeface="Calibri"/>
                </a:rPr>
                <a:t>Exploration</a:t>
              </a:r>
            </a:p>
          </p:txBody>
        </p:sp>
        <p:sp>
          <p:nvSpPr>
            <p:cNvPr id="12" name="Rounded Rectangle 11"/>
            <p:cNvSpPr/>
            <p:nvPr/>
          </p:nvSpPr>
          <p:spPr>
            <a:xfrm>
              <a:off x="685800" y="3017520"/>
              <a:ext cx="2514600" cy="1188720"/>
            </a:xfrm>
            <a:prstGeom prst="roundRect">
              <a:avLst>
                <a:gd name="adj" fmla="val 7000"/>
              </a:avLst>
            </a:prstGeom>
            <a:solidFill>
              <a:srgbClr val="FFFFFF"/>
            </a:solidFill>
            <a:ln w="31750">
              <a:solidFill>
                <a:srgbClr val="2D1E5F"/>
              </a:solidFill>
            </a:ln>
            <a:effectLst>
              <a:outerShdw blurRad="203200" dist="63500" dir="5400000" algn="t" rotWithShape="0">
                <a:srgbClr val="2D1E5F">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017520"/>
              <a:ext cx="2103120" cy="1188720"/>
            </a:xfrm>
            <a:prstGeom prst="rect">
              <a:avLst/>
            </a:prstGeom>
            <a:noFill/>
          </p:spPr>
          <p:txBody>
            <a:bodyPr wrap="square" lIns="0" rIns="0" tIns="0" bIns="0" anchor="ctr">
              <a:spAutoFit/>
            </a:bodyPr>
            <a:lstStyle/>
            <a:p>
              <a:pPr algn="l"/>
              <a:r>
                <a:rPr sz="2000" b="0">
                  <a:solidFill>
                    <a:srgbClr val="1E1740"/>
                  </a:solidFill>
                  <a:latin typeface="Calibri"/>
                </a:rPr>
                <a:t>Gaps, distributions, odd cases</a:t>
              </a:r>
            </a:p>
          </p:txBody>
        </p:sp>
      </p:grpSp>
      <p:grpSp>
        <p:nvGrpSpPr>
          <p:cNvPr id="14" name="Group 13"/>
          <p:cNvGrpSpPr/>
          <p:nvPr/>
        </p:nvGrpSpPr>
        <p:grpSpPr>
          <a:xfrm>
            <a:off x="3383280" y="1600200"/>
            <a:ext cx="2834640" cy="2606040"/>
            <a:chOff x="3383280" y="1600200"/>
            <a:chExt cx="2834640" cy="2606040"/>
          </a:xfrm>
        </p:grpSpPr>
        <p:sp>
          <p:nvSpPr>
            <p:cNvPr id="15" name="Pentagon 14"/>
            <p:cNvSpPr/>
            <p:nvPr/>
          </p:nvSpPr>
          <p:spPr>
            <a:xfrm>
              <a:off x="3383280" y="1600200"/>
              <a:ext cx="2834640" cy="1280160"/>
            </a:xfrm>
            <a:prstGeom prst="homePlate">
              <a:avLst>
                <a:gd name="adj" fmla="val 30000"/>
              </a:avLst>
            </a:prstGeom>
            <a:gradFill rotWithShape="1">
              <a:gsLst>
                <a:gs pos="0">
                  <a:srgbClr val="3B5BDB"/>
                </a:gs>
                <a:gs pos="100000">
                  <a:srgbClr val="667FE3"/>
                </a:gs>
              </a:gsLst>
              <a:lin scaled="0" ang="0"/>
            </a:gradFill>
            <a:ln>
              <a:noFill/>
            </a:ln>
            <a:effectLst>
              <a:outerShdw blurRad="152400" dist="50800" dir="5400000" algn="t" rotWithShape="0">
                <a:srgbClr val="3B5BDB">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0" y="1600200"/>
              <a:ext cx="640080" cy="1280160"/>
            </a:xfrm>
            <a:prstGeom prst="rect">
              <a:avLst/>
            </a:prstGeom>
            <a:noFill/>
          </p:spPr>
          <p:txBody>
            <a:bodyPr wrap="square" lIns="0" rIns="0" tIns="0" bIns="0" anchor="ctr">
              <a:spAutoFit/>
            </a:bodyPr>
            <a:lstStyle/>
            <a:p>
              <a:pPr algn="l"/>
              <a:r>
                <a:rPr sz="4400" b="1">
                  <a:solidFill>
                    <a:srgbClr val="FFFFFF"/>
                  </a:solidFill>
                  <a:latin typeface="Calibri"/>
                </a:rPr>
                <a:t>2</a:t>
              </a:r>
            </a:p>
          </p:txBody>
        </p:sp>
        <p:sp>
          <p:nvSpPr>
            <p:cNvPr id="17" name="TextBox 16"/>
            <p:cNvSpPr txBox="1"/>
            <p:nvPr/>
          </p:nvSpPr>
          <p:spPr>
            <a:xfrm>
              <a:off x="4297680" y="1600200"/>
              <a:ext cx="1554480" cy="1280160"/>
            </a:xfrm>
            <a:prstGeom prst="rect">
              <a:avLst/>
            </a:prstGeom>
            <a:noFill/>
          </p:spPr>
          <p:txBody>
            <a:bodyPr wrap="square" lIns="0" rIns="0" tIns="0" bIns="0" anchor="ctr">
              <a:spAutoFit/>
            </a:bodyPr>
            <a:lstStyle/>
            <a:p>
              <a:pPr algn="l"/>
              <a:r>
                <a:rPr sz="2400" b="1">
                  <a:solidFill>
                    <a:srgbClr val="FFFFFF"/>
                  </a:solidFill>
                  <a:latin typeface="Calibri"/>
                </a:rPr>
                <a:t>Estimation</a:t>
              </a:r>
            </a:p>
          </p:txBody>
        </p:sp>
        <p:sp>
          <p:nvSpPr>
            <p:cNvPr id="18" name="Rounded Rectangle 17"/>
            <p:cNvSpPr/>
            <p:nvPr/>
          </p:nvSpPr>
          <p:spPr>
            <a:xfrm>
              <a:off x="3429000" y="3017520"/>
              <a:ext cx="2514600" cy="1188720"/>
            </a:xfrm>
            <a:prstGeom prst="roundRect">
              <a:avLst>
                <a:gd name="adj" fmla="val 7000"/>
              </a:avLst>
            </a:prstGeom>
            <a:solidFill>
              <a:srgbClr val="FFFFFF"/>
            </a:solidFill>
            <a:ln w="31750">
              <a:solidFill>
                <a:srgbClr val="3B5BDB"/>
              </a:solidFill>
            </a:ln>
            <a:effectLst>
              <a:outerShdw blurRad="203200" dist="63500" dir="5400000" algn="t" rotWithShape="0">
                <a:srgbClr val="2D1E5F">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0" y="3017520"/>
              <a:ext cx="2103120" cy="1188720"/>
            </a:xfrm>
            <a:prstGeom prst="rect">
              <a:avLst/>
            </a:prstGeom>
            <a:noFill/>
          </p:spPr>
          <p:txBody>
            <a:bodyPr wrap="square" lIns="0" rIns="0" tIns="0" bIns="0" anchor="ctr">
              <a:spAutoFit/>
            </a:bodyPr>
            <a:lstStyle/>
            <a:p>
              <a:pPr algn="l"/>
              <a:r>
                <a:rPr sz="2000" b="0">
                  <a:solidFill>
                    <a:srgbClr val="1E1740"/>
                  </a:solidFill>
                  <a:latin typeface="Calibri"/>
                </a:rPr>
                <a:t>Model from followers and engagement</a:t>
              </a:r>
            </a:p>
          </p:txBody>
        </p:sp>
      </p:grpSp>
      <p:grpSp>
        <p:nvGrpSpPr>
          <p:cNvPr id="20" name="Group 19"/>
          <p:cNvGrpSpPr/>
          <p:nvPr/>
        </p:nvGrpSpPr>
        <p:grpSpPr>
          <a:xfrm>
            <a:off x="6126480" y="1600200"/>
            <a:ext cx="2834640" cy="2606040"/>
            <a:chOff x="6126480" y="1600200"/>
            <a:chExt cx="2834640" cy="2606040"/>
          </a:xfrm>
        </p:grpSpPr>
        <p:sp>
          <p:nvSpPr>
            <p:cNvPr id="21" name="Pentagon 20"/>
            <p:cNvSpPr/>
            <p:nvPr/>
          </p:nvSpPr>
          <p:spPr>
            <a:xfrm>
              <a:off x="6126480" y="1600200"/>
              <a:ext cx="2834640" cy="1280160"/>
            </a:xfrm>
            <a:prstGeom prst="homePlate">
              <a:avLst>
                <a:gd name="adj" fmla="val 30000"/>
              </a:avLst>
            </a:prstGeom>
            <a:gradFill rotWithShape="1">
              <a:gsLst>
                <a:gs pos="0">
                  <a:srgbClr val="E8475A"/>
                </a:gs>
                <a:gs pos="100000">
                  <a:srgbClr val="ED6F7E"/>
                </a:gs>
              </a:gsLst>
              <a:lin scaled="0" ang="0"/>
            </a:gradFill>
            <a:ln>
              <a:noFill/>
            </a:ln>
            <a:effectLst>
              <a:outerShdw blurRad="152400" dist="50800" dir="5400000" algn="t" rotWithShape="0">
                <a:srgbClr val="E8475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1600200"/>
              <a:ext cx="640080" cy="1280160"/>
            </a:xfrm>
            <a:prstGeom prst="rect">
              <a:avLst/>
            </a:prstGeom>
            <a:noFill/>
          </p:spPr>
          <p:txBody>
            <a:bodyPr wrap="square" lIns="0" rIns="0" tIns="0" bIns="0" anchor="ctr">
              <a:spAutoFit/>
            </a:bodyPr>
            <a:lstStyle/>
            <a:p>
              <a:pPr algn="l"/>
              <a:r>
                <a:rPr sz="4400" b="1">
                  <a:solidFill>
                    <a:srgbClr val="FFFFFF"/>
                  </a:solidFill>
                  <a:latin typeface="Calibri"/>
                </a:rPr>
                <a:t>3</a:t>
              </a:r>
            </a:p>
          </p:txBody>
        </p:sp>
        <p:sp>
          <p:nvSpPr>
            <p:cNvPr id="23" name="TextBox 22"/>
            <p:cNvSpPr txBox="1"/>
            <p:nvPr/>
          </p:nvSpPr>
          <p:spPr>
            <a:xfrm>
              <a:off x="7040880" y="1600200"/>
              <a:ext cx="1554480" cy="1280160"/>
            </a:xfrm>
            <a:prstGeom prst="rect">
              <a:avLst/>
            </a:prstGeom>
            <a:noFill/>
          </p:spPr>
          <p:txBody>
            <a:bodyPr wrap="square" lIns="0" rIns="0" tIns="0" bIns="0" anchor="ctr">
              <a:spAutoFit/>
            </a:bodyPr>
            <a:lstStyle/>
            <a:p>
              <a:pPr algn="l"/>
              <a:r>
                <a:rPr sz="2400" b="1">
                  <a:solidFill>
                    <a:srgbClr val="FFFFFF"/>
                  </a:solidFill>
                  <a:latin typeface="Calibri"/>
                </a:rPr>
                <a:t>Validation</a:t>
              </a:r>
            </a:p>
          </p:txBody>
        </p:sp>
        <p:sp>
          <p:nvSpPr>
            <p:cNvPr id="24" name="Rounded Rectangle 23"/>
            <p:cNvSpPr/>
            <p:nvPr/>
          </p:nvSpPr>
          <p:spPr>
            <a:xfrm>
              <a:off x="6172200" y="3017520"/>
              <a:ext cx="2514600" cy="1188720"/>
            </a:xfrm>
            <a:prstGeom prst="roundRect">
              <a:avLst>
                <a:gd name="adj" fmla="val 7000"/>
              </a:avLst>
            </a:prstGeom>
            <a:solidFill>
              <a:srgbClr val="FFFFFF"/>
            </a:solidFill>
            <a:ln w="31750">
              <a:solidFill>
                <a:srgbClr val="E8475A"/>
              </a:solidFill>
            </a:ln>
            <a:effectLst>
              <a:outerShdw blurRad="203200" dist="63500" dir="5400000" algn="t" rotWithShape="0">
                <a:srgbClr val="2D1E5F">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3017520"/>
              <a:ext cx="2103120" cy="1188720"/>
            </a:xfrm>
            <a:prstGeom prst="rect">
              <a:avLst/>
            </a:prstGeom>
            <a:noFill/>
          </p:spPr>
          <p:txBody>
            <a:bodyPr wrap="square" lIns="0" rIns="0" tIns="0" bIns="0" anchor="ctr">
              <a:spAutoFit/>
            </a:bodyPr>
            <a:lstStyle/>
            <a:p>
              <a:pPr algn="l"/>
              <a:r>
                <a:rPr sz="2000" b="0">
                  <a:solidFill>
                    <a:srgbClr val="1E1740"/>
                  </a:solidFill>
                  <a:latin typeface="Calibri"/>
                </a:rPr>
                <a:t>Tested where views are known</a:t>
              </a:r>
            </a:p>
          </p:txBody>
        </p:sp>
      </p:grpSp>
      <p:grpSp>
        <p:nvGrpSpPr>
          <p:cNvPr id="26" name="Group 25"/>
          <p:cNvGrpSpPr/>
          <p:nvPr/>
        </p:nvGrpSpPr>
        <p:grpSpPr>
          <a:xfrm>
            <a:off x="8869680" y="1600200"/>
            <a:ext cx="2834640" cy="2606040"/>
            <a:chOff x="8869680" y="1600200"/>
            <a:chExt cx="2834640" cy="2606040"/>
          </a:xfrm>
        </p:grpSpPr>
        <p:sp>
          <p:nvSpPr>
            <p:cNvPr id="27" name="Pentagon 26"/>
            <p:cNvSpPr/>
            <p:nvPr/>
          </p:nvSpPr>
          <p:spPr>
            <a:xfrm>
              <a:off x="8869680" y="1600200"/>
              <a:ext cx="2834640" cy="1280160"/>
            </a:xfrm>
            <a:prstGeom prst="homePlate">
              <a:avLst>
                <a:gd name="adj" fmla="val 30000"/>
              </a:avLst>
            </a:prstGeom>
            <a:gradFill rotWithShape="1">
              <a:gsLst>
                <a:gs pos="0">
                  <a:srgbClr val="FFC247"/>
                </a:gs>
                <a:gs pos="100000">
                  <a:srgbClr val="FFCF6F"/>
                </a:gs>
              </a:gsLst>
              <a:lin scaled="0" ang="0"/>
            </a:gradFill>
            <a:ln>
              <a:noFill/>
            </a:ln>
            <a:effectLst>
              <a:outerShdw blurRad="152400" dist="50800" dir="5400000" algn="t" rotWithShape="0">
                <a:srgbClr val="FFC247">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0" y="1600200"/>
              <a:ext cx="640080" cy="1280160"/>
            </a:xfrm>
            <a:prstGeom prst="rect">
              <a:avLst/>
            </a:prstGeom>
            <a:noFill/>
          </p:spPr>
          <p:txBody>
            <a:bodyPr wrap="square" lIns="0" rIns="0" tIns="0" bIns="0" anchor="ctr">
              <a:spAutoFit/>
            </a:bodyPr>
            <a:lstStyle/>
            <a:p>
              <a:pPr algn="l"/>
              <a:r>
                <a:rPr sz="4400" b="1">
                  <a:solidFill>
                    <a:srgbClr val="1E1740"/>
                  </a:solidFill>
                  <a:latin typeface="Calibri"/>
                </a:rPr>
                <a:t>4</a:t>
              </a:r>
            </a:p>
          </p:txBody>
        </p:sp>
        <p:sp>
          <p:nvSpPr>
            <p:cNvPr id="29" name="TextBox 28"/>
            <p:cNvSpPr txBox="1"/>
            <p:nvPr/>
          </p:nvSpPr>
          <p:spPr>
            <a:xfrm>
              <a:off x="9784080" y="1600200"/>
              <a:ext cx="1554480" cy="1280160"/>
            </a:xfrm>
            <a:prstGeom prst="rect">
              <a:avLst/>
            </a:prstGeom>
            <a:noFill/>
          </p:spPr>
          <p:txBody>
            <a:bodyPr wrap="square" lIns="0" rIns="0" tIns="0" bIns="0" anchor="ctr">
              <a:spAutoFit/>
            </a:bodyPr>
            <a:lstStyle/>
            <a:p>
              <a:pPr algn="l"/>
              <a:r>
                <a:rPr sz="2400" b="1">
                  <a:solidFill>
                    <a:srgbClr val="1E1740"/>
                  </a:solidFill>
                  <a:latin typeface="Calibri"/>
                </a:rPr>
                <a:t>Uncertainty</a:t>
              </a:r>
            </a:p>
          </p:txBody>
        </p:sp>
        <p:sp>
          <p:nvSpPr>
            <p:cNvPr id="30" name="Rounded Rectangle 29"/>
            <p:cNvSpPr/>
            <p:nvPr/>
          </p:nvSpPr>
          <p:spPr>
            <a:xfrm>
              <a:off x="8915400" y="3017520"/>
              <a:ext cx="2514600" cy="1188720"/>
            </a:xfrm>
            <a:prstGeom prst="roundRect">
              <a:avLst>
                <a:gd name="adj" fmla="val 7000"/>
              </a:avLst>
            </a:prstGeom>
            <a:solidFill>
              <a:srgbClr val="FFFFFF"/>
            </a:solidFill>
            <a:ln w="31750">
              <a:solidFill>
                <a:srgbClr val="FFC247"/>
              </a:solidFill>
            </a:ln>
            <a:effectLst>
              <a:outerShdw blurRad="203200" dist="63500" dir="5400000" algn="t" rotWithShape="0">
                <a:srgbClr val="2D1E5F">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0" y="3017520"/>
              <a:ext cx="2103120" cy="1188720"/>
            </a:xfrm>
            <a:prstGeom prst="rect">
              <a:avLst/>
            </a:prstGeom>
            <a:noFill/>
          </p:spPr>
          <p:txBody>
            <a:bodyPr wrap="square" lIns="0" rIns="0" tIns="0" bIns="0" anchor="ctr">
              <a:spAutoFit/>
            </a:bodyPr>
            <a:lstStyle/>
            <a:p>
              <a:pPr algn="l"/>
              <a:r>
                <a:rPr sz="2000" b="0">
                  <a:solidFill>
                    <a:srgbClr val="1E1740"/>
                  </a:solidFill>
                  <a:latin typeface="Calibri"/>
                </a:rPr>
                <a:t>Intervals and robustness of results</a:t>
              </a:r>
            </a:p>
          </p:txBody>
        </p:sp>
      </p:grpSp>
      <p:grpSp>
        <p:nvGrpSpPr>
          <p:cNvPr id="32" name="Group 31"/>
          <p:cNvGrpSpPr/>
          <p:nvPr/>
        </p:nvGrpSpPr>
        <p:grpSpPr>
          <a:xfrm>
            <a:off x="640080" y="4526280"/>
            <a:ext cx="10927080" cy="1691640"/>
            <a:chOff x="640080" y="4526280"/>
            <a:chExt cx="10927080" cy="1691640"/>
          </a:xfrm>
        </p:grpSpPr>
        <p:sp>
          <p:nvSpPr>
            <p:cNvPr id="33" name="Rounded Rectangle 32"/>
            <p:cNvSpPr/>
            <p:nvPr/>
          </p:nvSpPr>
          <p:spPr>
            <a:xfrm>
              <a:off x="640080" y="4526280"/>
              <a:ext cx="10927080" cy="1691640"/>
            </a:xfrm>
            <a:prstGeom prst="roundRect">
              <a:avLst>
                <a:gd name="adj" fmla="val 12000"/>
              </a:avLst>
            </a:prstGeom>
            <a:gradFill rotWithShape="1">
              <a:gsLst>
                <a:gs pos="0">
                  <a:srgbClr val="2D1E5F"/>
                </a:gs>
                <a:gs pos="100000">
                  <a:srgbClr val="4B3591"/>
                </a:gs>
              </a:gsLst>
              <a:lin scaled="0" ang="0"/>
            </a:gradFill>
            <a:ln>
              <a:noFill/>
            </a:ln>
            <a:effectLst>
              <a:outerShdw blurRad="228600" dist="76200" dir="5400000" algn="t" rotWithShape="0">
                <a:srgbClr val="2D1E5F">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0120" y="4663440"/>
              <a:ext cx="3291840" cy="365760"/>
            </a:xfrm>
            <a:prstGeom prst="rect">
              <a:avLst/>
            </a:prstGeom>
            <a:noFill/>
          </p:spPr>
          <p:txBody>
            <a:bodyPr wrap="square" lIns="0" rIns="0" tIns="0" bIns="0" anchor="t">
              <a:spAutoFit/>
            </a:bodyPr>
            <a:lstStyle/>
            <a:p>
              <a:pPr algn="l"/>
              <a:r>
                <a:rPr sz="1800" b="1">
                  <a:solidFill>
                    <a:srgbClr val="FFC247"/>
                  </a:solidFill>
                  <a:latin typeface="Calibri"/>
                </a:rPr>
                <a:t>WHAT WE WORK WITH</a:t>
              </a:r>
            </a:p>
          </p:txBody>
        </p:sp>
        <p:sp>
          <p:nvSpPr>
            <p:cNvPr id="35" name="TextBox 34"/>
            <p:cNvSpPr txBox="1"/>
            <p:nvPr/>
          </p:nvSpPr>
          <p:spPr>
            <a:xfrm>
              <a:off x="960120" y="5029200"/>
              <a:ext cx="3291840" cy="640080"/>
            </a:xfrm>
            <a:prstGeom prst="rect">
              <a:avLst/>
            </a:prstGeom>
            <a:noFill/>
          </p:spPr>
          <p:txBody>
            <a:bodyPr wrap="square" lIns="0" rIns="0" tIns="0" bIns="0" anchor="ctr">
              <a:spAutoFit/>
            </a:bodyPr>
            <a:lstStyle/>
            <a:p>
              <a:pPr algn="l"/>
              <a:r>
                <a:rPr sz="4000" b="1">
                  <a:solidFill>
                    <a:srgbClr val="FFFFFF"/>
                  </a:solidFill>
                  <a:latin typeface="Calibri"/>
                </a:rPr>
                <a:t>12,500</a:t>
              </a:r>
            </a:p>
          </p:txBody>
        </p:sp>
        <p:sp>
          <p:nvSpPr>
            <p:cNvPr id="36" name="TextBox 35"/>
            <p:cNvSpPr txBox="1"/>
            <p:nvPr/>
          </p:nvSpPr>
          <p:spPr>
            <a:xfrm>
              <a:off x="960120" y="5669280"/>
              <a:ext cx="3291840" cy="411480"/>
            </a:xfrm>
            <a:prstGeom prst="rect">
              <a:avLst/>
            </a:prstGeom>
            <a:noFill/>
          </p:spPr>
          <p:txBody>
            <a:bodyPr wrap="square" lIns="0" rIns="0" tIns="0" bIns="0" anchor="t">
              <a:spAutoFit/>
            </a:bodyPr>
            <a:lstStyle/>
            <a:p>
              <a:pPr algn="l"/>
              <a:r>
                <a:rPr sz="1800" b="0">
                  <a:solidFill>
                    <a:srgbClr val="C9C2E0"/>
                  </a:solidFill>
                  <a:latin typeface="Calibri"/>
                </a:rPr>
                <a:t>mentions, 2,500 from each of 5 platforms</a:t>
              </a:r>
            </a:p>
          </p:txBody>
        </p:sp>
        <p:sp>
          <p:nvSpPr>
            <p:cNvPr id="37" name="Rectangle 36"/>
            <p:cNvSpPr/>
            <p:nvPr/>
          </p:nvSpPr>
          <p:spPr>
            <a:xfrm>
              <a:off x="4160520" y="4754880"/>
              <a:ext cx="18288" cy="1280160"/>
            </a:xfrm>
            <a:prstGeom prst="rect">
              <a:avLst/>
            </a:prstGeom>
            <a:solidFill>
              <a:srgbClr val="6A5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434840" y="4663440"/>
              <a:ext cx="6949440" cy="365760"/>
            </a:xfrm>
            <a:prstGeom prst="rect">
              <a:avLst/>
            </a:prstGeom>
            <a:noFill/>
          </p:spPr>
          <p:txBody>
            <a:bodyPr wrap="square" lIns="0" rIns="0" tIns="0" bIns="0" anchor="t">
              <a:spAutoFit/>
            </a:bodyPr>
            <a:lstStyle/>
            <a:p>
              <a:pPr algn="l"/>
              <a:r>
                <a:rPr sz="1800" b="1">
                  <a:solidFill>
                    <a:srgbClr val="FFC247"/>
                  </a:solidFill>
                  <a:latin typeface="Calibri"/>
                </a:rPr>
                <a:t>MENTIONS WITH KNOWN VIEWS</a:t>
              </a:r>
            </a:p>
          </p:txBody>
        </p:sp>
        <p:sp>
          <p:nvSpPr>
            <p:cNvPr id="39" name="TextBox 38"/>
            <p:cNvSpPr txBox="1"/>
            <p:nvPr/>
          </p:nvSpPr>
          <p:spPr>
            <a:xfrm>
              <a:off x="4434840" y="4983480"/>
              <a:ext cx="1280160" cy="502920"/>
            </a:xfrm>
            <a:prstGeom prst="rect">
              <a:avLst/>
            </a:prstGeom>
            <a:noFill/>
          </p:spPr>
          <p:txBody>
            <a:bodyPr wrap="square" lIns="0" rIns="0" tIns="0" bIns="0" anchor="ctr">
              <a:spAutoFit/>
            </a:bodyPr>
            <a:lstStyle/>
            <a:p>
              <a:pPr algn="l"/>
              <a:r>
                <a:rPr sz="2800" b="1">
                  <a:solidFill>
                    <a:srgbClr val="1FB59A"/>
                  </a:solidFill>
                  <a:latin typeface="Calibri"/>
                </a:rPr>
                <a:t>100%</a:t>
              </a:r>
            </a:p>
          </p:txBody>
        </p:sp>
        <p:sp>
          <p:nvSpPr>
            <p:cNvPr id="40" name="Rounded Rectangle 39"/>
            <p:cNvSpPr/>
            <p:nvPr/>
          </p:nvSpPr>
          <p:spPr>
            <a:xfrm>
              <a:off x="4434840" y="5532120"/>
              <a:ext cx="1188720" cy="146304"/>
            </a:xfrm>
            <a:prstGeom prst="roundRect">
              <a:avLst>
                <a:gd name="adj" fmla="val 50000"/>
              </a:avLst>
            </a:prstGeom>
            <a:solidFill>
              <a:srgbClr val="4E3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4434840" y="5532120"/>
              <a:ext cx="1188720" cy="146304"/>
            </a:xfrm>
            <a:prstGeom prst="roundRect">
              <a:avLst>
                <a:gd name="adj" fmla="val 50000"/>
              </a:avLst>
            </a:prstGeom>
            <a:solidFill>
              <a:srgbClr val="1FB5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34840" y="5760720"/>
              <a:ext cx="1371600" cy="365760"/>
            </a:xfrm>
            <a:prstGeom prst="rect">
              <a:avLst/>
            </a:prstGeom>
            <a:noFill/>
          </p:spPr>
          <p:txBody>
            <a:bodyPr wrap="square" lIns="0" rIns="0" tIns="0" bIns="0" anchor="t">
              <a:spAutoFit/>
            </a:bodyPr>
            <a:lstStyle/>
            <a:p>
              <a:pPr algn="l"/>
              <a:r>
                <a:rPr sz="1600" b="0">
                  <a:solidFill>
                    <a:srgbClr val="C9C2E0"/>
                  </a:solidFill>
                  <a:latin typeface="Calibri"/>
                </a:rPr>
                <a:t>TikTok</a:t>
              </a:r>
            </a:p>
          </p:txBody>
        </p:sp>
        <p:sp>
          <p:nvSpPr>
            <p:cNvPr id="43" name="TextBox 42"/>
            <p:cNvSpPr txBox="1"/>
            <p:nvPr/>
          </p:nvSpPr>
          <p:spPr>
            <a:xfrm>
              <a:off x="5833872" y="4983480"/>
              <a:ext cx="1280160" cy="502920"/>
            </a:xfrm>
            <a:prstGeom prst="rect">
              <a:avLst/>
            </a:prstGeom>
            <a:noFill/>
          </p:spPr>
          <p:txBody>
            <a:bodyPr wrap="square" lIns="0" rIns="0" tIns="0" bIns="0" anchor="ctr">
              <a:spAutoFit/>
            </a:bodyPr>
            <a:lstStyle/>
            <a:p>
              <a:pPr algn="l"/>
              <a:r>
                <a:rPr sz="2800" b="1">
                  <a:solidFill>
                    <a:srgbClr val="1FB59A"/>
                  </a:solidFill>
                  <a:latin typeface="Calibri"/>
                </a:rPr>
                <a:t>99%</a:t>
              </a:r>
            </a:p>
          </p:txBody>
        </p:sp>
        <p:sp>
          <p:nvSpPr>
            <p:cNvPr id="44" name="Rounded Rectangle 43"/>
            <p:cNvSpPr/>
            <p:nvPr/>
          </p:nvSpPr>
          <p:spPr>
            <a:xfrm>
              <a:off x="5833872" y="5532120"/>
              <a:ext cx="1188720" cy="146304"/>
            </a:xfrm>
            <a:prstGeom prst="roundRect">
              <a:avLst>
                <a:gd name="adj" fmla="val 50000"/>
              </a:avLst>
            </a:prstGeom>
            <a:solidFill>
              <a:srgbClr val="4E3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5833872" y="5532120"/>
              <a:ext cx="1176832" cy="146304"/>
            </a:xfrm>
            <a:prstGeom prst="roundRect">
              <a:avLst>
                <a:gd name="adj" fmla="val 50000"/>
              </a:avLst>
            </a:prstGeom>
            <a:solidFill>
              <a:srgbClr val="1FB5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833872" y="5760720"/>
              <a:ext cx="1371600" cy="365760"/>
            </a:xfrm>
            <a:prstGeom prst="rect">
              <a:avLst/>
            </a:prstGeom>
            <a:noFill/>
          </p:spPr>
          <p:txBody>
            <a:bodyPr wrap="square" lIns="0" rIns="0" tIns="0" bIns="0" anchor="t">
              <a:spAutoFit/>
            </a:bodyPr>
            <a:lstStyle/>
            <a:p>
              <a:pPr algn="l"/>
              <a:r>
                <a:rPr sz="1600" b="0">
                  <a:solidFill>
                    <a:srgbClr val="C9C2E0"/>
                  </a:solidFill>
                  <a:latin typeface="Calibri"/>
                </a:rPr>
                <a:t>YouTube</a:t>
              </a:r>
            </a:p>
          </p:txBody>
        </p:sp>
        <p:sp>
          <p:nvSpPr>
            <p:cNvPr id="47" name="TextBox 46"/>
            <p:cNvSpPr txBox="1"/>
            <p:nvPr/>
          </p:nvSpPr>
          <p:spPr>
            <a:xfrm>
              <a:off x="7232904" y="4983480"/>
              <a:ext cx="1280160" cy="502920"/>
            </a:xfrm>
            <a:prstGeom prst="rect">
              <a:avLst/>
            </a:prstGeom>
            <a:noFill/>
          </p:spPr>
          <p:txBody>
            <a:bodyPr wrap="square" lIns="0" rIns="0" tIns="0" bIns="0" anchor="ctr">
              <a:spAutoFit/>
            </a:bodyPr>
            <a:lstStyle/>
            <a:p>
              <a:pPr algn="l"/>
              <a:r>
                <a:rPr sz="2800" b="1">
                  <a:solidFill>
                    <a:srgbClr val="FFC247"/>
                  </a:solidFill>
                  <a:latin typeface="Calibri"/>
                </a:rPr>
                <a:t>75%</a:t>
              </a:r>
            </a:p>
          </p:txBody>
        </p:sp>
        <p:sp>
          <p:nvSpPr>
            <p:cNvPr id="48" name="Rounded Rectangle 47"/>
            <p:cNvSpPr/>
            <p:nvPr/>
          </p:nvSpPr>
          <p:spPr>
            <a:xfrm>
              <a:off x="7232904" y="5532120"/>
              <a:ext cx="1188720" cy="146304"/>
            </a:xfrm>
            <a:prstGeom prst="roundRect">
              <a:avLst>
                <a:gd name="adj" fmla="val 50000"/>
              </a:avLst>
            </a:prstGeom>
            <a:solidFill>
              <a:srgbClr val="4E3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7232904" y="5532120"/>
              <a:ext cx="891540" cy="146304"/>
            </a:xfrm>
            <a:prstGeom prst="roundRect">
              <a:avLst>
                <a:gd name="adj" fmla="val 50000"/>
              </a:avLst>
            </a:prstGeom>
            <a:solidFill>
              <a:srgbClr val="FFC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232904" y="5760720"/>
              <a:ext cx="1371600" cy="365760"/>
            </a:xfrm>
            <a:prstGeom prst="rect">
              <a:avLst/>
            </a:prstGeom>
            <a:noFill/>
          </p:spPr>
          <p:txBody>
            <a:bodyPr wrap="square" lIns="0" rIns="0" tIns="0" bIns="0" anchor="t">
              <a:spAutoFit/>
            </a:bodyPr>
            <a:lstStyle/>
            <a:p>
              <a:pPr algn="l"/>
              <a:r>
                <a:rPr sz="1600" b="0">
                  <a:solidFill>
                    <a:srgbClr val="C9C2E0"/>
                  </a:solidFill>
                  <a:latin typeface="Calibri"/>
                </a:rPr>
                <a:t>X (Twitter)</a:t>
              </a:r>
            </a:p>
          </p:txBody>
        </p:sp>
        <p:sp>
          <p:nvSpPr>
            <p:cNvPr id="51" name="TextBox 50"/>
            <p:cNvSpPr txBox="1"/>
            <p:nvPr/>
          </p:nvSpPr>
          <p:spPr>
            <a:xfrm>
              <a:off x="8631936" y="4983480"/>
              <a:ext cx="1280160" cy="502920"/>
            </a:xfrm>
            <a:prstGeom prst="rect">
              <a:avLst/>
            </a:prstGeom>
            <a:noFill/>
          </p:spPr>
          <p:txBody>
            <a:bodyPr wrap="square" lIns="0" rIns="0" tIns="0" bIns="0" anchor="ctr">
              <a:spAutoFit/>
            </a:bodyPr>
            <a:lstStyle/>
            <a:p>
              <a:pPr algn="l"/>
              <a:r>
                <a:rPr sz="2800" b="1">
                  <a:solidFill>
                    <a:srgbClr val="E8475A"/>
                  </a:solidFill>
                  <a:latin typeface="Calibri"/>
                </a:rPr>
                <a:t>0%</a:t>
              </a:r>
            </a:p>
          </p:txBody>
        </p:sp>
        <p:sp>
          <p:nvSpPr>
            <p:cNvPr id="52" name="Rounded Rectangle 51"/>
            <p:cNvSpPr/>
            <p:nvPr/>
          </p:nvSpPr>
          <p:spPr>
            <a:xfrm>
              <a:off x="8631936" y="5532120"/>
              <a:ext cx="1188720" cy="146304"/>
            </a:xfrm>
            <a:prstGeom prst="roundRect">
              <a:avLst>
                <a:gd name="adj" fmla="val 50000"/>
              </a:avLst>
            </a:prstGeom>
            <a:solidFill>
              <a:srgbClr val="4E3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631936" y="5760720"/>
              <a:ext cx="1371600" cy="365760"/>
            </a:xfrm>
            <a:prstGeom prst="rect">
              <a:avLst/>
            </a:prstGeom>
            <a:noFill/>
          </p:spPr>
          <p:txBody>
            <a:bodyPr wrap="square" lIns="0" rIns="0" tIns="0" bIns="0" anchor="t">
              <a:spAutoFit/>
            </a:bodyPr>
            <a:lstStyle/>
            <a:p>
              <a:pPr algn="l"/>
              <a:r>
                <a:rPr sz="1600" b="0">
                  <a:solidFill>
                    <a:srgbClr val="C9C2E0"/>
                  </a:solidFill>
                  <a:latin typeface="Calibri"/>
                </a:rPr>
                <a:t>Facebook</a:t>
              </a:r>
            </a:p>
          </p:txBody>
        </p:sp>
        <p:sp>
          <p:nvSpPr>
            <p:cNvPr id="54" name="TextBox 53"/>
            <p:cNvSpPr txBox="1"/>
            <p:nvPr/>
          </p:nvSpPr>
          <p:spPr>
            <a:xfrm>
              <a:off x="10030967" y="4983480"/>
              <a:ext cx="1280160" cy="502920"/>
            </a:xfrm>
            <a:prstGeom prst="rect">
              <a:avLst/>
            </a:prstGeom>
            <a:noFill/>
          </p:spPr>
          <p:txBody>
            <a:bodyPr wrap="square" lIns="0" rIns="0" tIns="0" bIns="0" anchor="ctr">
              <a:spAutoFit/>
            </a:bodyPr>
            <a:lstStyle/>
            <a:p>
              <a:pPr algn="l"/>
              <a:r>
                <a:rPr sz="2800" b="1">
                  <a:solidFill>
                    <a:srgbClr val="E8475A"/>
                  </a:solidFill>
                  <a:latin typeface="Calibri"/>
                </a:rPr>
                <a:t>0%</a:t>
              </a:r>
            </a:p>
          </p:txBody>
        </p:sp>
        <p:sp>
          <p:nvSpPr>
            <p:cNvPr id="55" name="Rounded Rectangle 54"/>
            <p:cNvSpPr/>
            <p:nvPr/>
          </p:nvSpPr>
          <p:spPr>
            <a:xfrm>
              <a:off x="10030967" y="5532120"/>
              <a:ext cx="1188720" cy="146304"/>
            </a:xfrm>
            <a:prstGeom prst="roundRect">
              <a:avLst>
                <a:gd name="adj" fmla="val 50000"/>
              </a:avLst>
            </a:prstGeom>
            <a:solidFill>
              <a:srgbClr val="4E3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030967" y="5760720"/>
              <a:ext cx="1371600" cy="365760"/>
            </a:xfrm>
            <a:prstGeom prst="rect">
              <a:avLst/>
            </a:prstGeom>
            <a:noFill/>
          </p:spPr>
          <p:txBody>
            <a:bodyPr wrap="square" lIns="0" rIns="0" tIns="0" bIns="0" anchor="t">
              <a:spAutoFit/>
            </a:bodyPr>
            <a:lstStyle/>
            <a:p>
              <a:pPr algn="l"/>
              <a:r>
                <a:rPr sz="1600" b="0">
                  <a:solidFill>
                    <a:srgbClr val="C9C2E0"/>
                  </a:solidFill>
                  <a:latin typeface="Calibri"/>
                </a:rPr>
                <a:t>Instagram</a:t>
              </a: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9" fill="hold">
                      <p:stCondLst>
                        <p:cond delay="indefinite"/>
                        <p:cond evt="onBegin" delay="0">
                          <p:tn val="2"/>
                        </p:cond>
                      </p:stCondLst>
                      <p:childTnLst>
                        <p:par>
                          <p:cTn id="3" fill="hold">
                            <p:stCondLst>
                              <p:cond delay="0"/>
                            </p:stCondLst>
                            <p:childTnLst>
                              <p:par>
                                <p:cTn id="4" presetID="42" presetClass="entr" presetSubtype="0" fill="hold" nodeType="afterEffect">
                                  <p:stCondLst>
                                    <p:cond delay="0"/>
                                  </p:stCondLst>
                                  <p:childTnLst>
                                    <p:set>
                                      <p:cBhvr>
                                        <p:cTn id="5" dur="1" fill="hold">
                                          <p:stCondLst>
                                            <p:cond delay="0"/>
                                          </p:stCondLst>
                                        </p:cTn>
                                        <p:tgtEl>
                                          <p:spTgt spid="8"/>
                                        </p:tgtEl>
                                        <p:attrNameLst>
                                          <p:attrName>style.visibility</p:attrName>
                                        </p:attrNameLst>
                                      </p:cBhvr>
                                      <p:to>
                                        <p:strVal val="visible"/>
                                      </p:to>
                                    </p:set>
                                    <p:animEffect transition="in" filter="fade">
                                      <p:cBhvr>
                                        <p:cTn id="6" dur="500"/>
                                        <p:tgtEl>
                                          <p:spTgt spid="8"/>
                                        </p:tgtEl>
                                      </p:cBhvr>
                                    </p:animEffec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ppt_y+.08"/>
                                          </p:val>
                                        </p:tav>
                                        <p:tav tm="100000">
                                          <p:val>
                                            <p:strVal val="#ppt_y"/>
                                          </p:val>
                                        </p:tav>
                                      </p:tavLst>
                                    </p:anim>
                                  </p:childTnLst>
                                </p:cTn>
                              </p:par>
                            </p:childTnLst>
                          </p:cTn>
                        </p:par>
                        <p:par>
                          <p:cTn id="9" fill="hold">
                            <p:stCondLst>
                              <p:cond delay="620"/>
                            </p:stCondLst>
                            <p:childTnLst>
                              <p:par>
                                <p:cTn id="10" presetID="42" presetClass="entr" presetSubtype="0" fill="hold" nodeType="after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ppt_y+.08"/>
                                          </p:val>
                                        </p:tav>
                                        <p:tav tm="100000">
                                          <p:val>
                                            <p:strVal val="#ppt_y"/>
                                          </p:val>
                                        </p:tav>
                                      </p:tavLst>
                                    </p:anim>
                                  </p:childTnLst>
                                </p:cTn>
                              </p:par>
                            </p:childTnLst>
                          </p:cTn>
                        </p:par>
                        <p:par>
                          <p:cTn id="15" fill="hold">
                            <p:stCondLst>
                              <p:cond delay="1240"/>
                            </p:stCondLst>
                            <p:childTnLst>
                              <p:par>
                                <p:cTn id="16" presetID="42" presetClass="entr" presetSubtype="0" fill="hold" nodeType="after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anim calcmode="lin" valueType="num">
                                      <p:cBhvr additive="base">
                                        <p:cTn id="19" dur="500" fill="hold"/>
                                        <p:tgtEl>
                                          <p:spTgt spid="20"/>
                                        </p:tgtEl>
                                        <p:attrNameLst>
                                          <p:attrName>ppt_x</p:attrName>
                                        </p:attrNameLst>
                                      </p:cBhvr>
                                      <p:tavLst>
                                        <p:tav tm="0">
                                          <p:val>
                                            <p:strVal val="#ppt_x"/>
                                          </p:val>
                                        </p:tav>
                                        <p:tav tm="100000">
                                          <p:val>
                                            <p:strVal val="#ppt_x"/>
                                          </p:val>
                                        </p:tav>
                                      </p:tavLst>
                                    </p:anim>
                                    <p:anim calcmode="lin" valueType="num">
                                      <p:cBhvr additive="base">
                                        <p:cTn id="20" dur="500" fill="hold"/>
                                        <p:tgtEl>
                                          <p:spTgt spid="20"/>
                                        </p:tgtEl>
                                        <p:attrNameLst>
                                          <p:attrName>ppt_y</p:attrName>
                                        </p:attrNameLst>
                                      </p:cBhvr>
                                      <p:tavLst>
                                        <p:tav tm="0">
                                          <p:val>
                                            <p:strVal val="#ppt_y+.08"/>
                                          </p:val>
                                        </p:tav>
                                        <p:tav tm="100000">
                                          <p:val>
                                            <p:strVal val="#ppt_y"/>
                                          </p:val>
                                        </p:tav>
                                      </p:tavLst>
                                    </p:anim>
                                  </p:childTnLst>
                                </p:cTn>
                              </p:par>
                            </p:childTnLst>
                          </p:cTn>
                        </p:par>
                        <p:par>
                          <p:cTn id="21" fill="hold">
                            <p:stCondLst>
                              <p:cond delay="1860"/>
                            </p:stCondLst>
                            <p:childTnLst>
                              <p:par>
                                <p:cTn id="22" presetID="42" presetClass="entr" presetSubtype="0" fill="hold" nodeType="after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fade">
                                      <p:cBhvr>
                                        <p:cTn id="24" dur="500"/>
                                        <p:tgtEl>
                                          <p:spTgt spid="26"/>
                                        </p:tgtEl>
                                      </p:cBhvr>
                                    </p:animEffect>
                                    <p:anim calcmode="lin" valueType="num">
                                      <p:cBhvr additive="base">
                                        <p:cTn id="25" dur="500" fill="hold"/>
                                        <p:tgtEl>
                                          <p:spTgt spid="26"/>
                                        </p:tgtEl>
                                        <p:attrNameLst>
                                          <p:attrName>ppt_x</p:attrName>
                                        </p:attrNameLst>
                                      </p:cBhvr>
                                      <p:tavLst>
                                        <p:tav tm="0">
                                          <p:val>
                                            <p:strVal val="#ppt_x"/>
                                          </p:val>
                                        </p:tav>
                                        <p:tav tm="100000">
                                          <p:val>
                                            <p:strVal val="#ppt_x"/>
                                          </p:val>
                                        </p:tav>
                                      </p:tavLst>
                                    </p:anim>
                                    <p:anim calcmode="lin" valueType="num">
                                      <p:cBhvr additive="base">
                                        <p:cTn id="26" dur="500" fill="hold"/>
                                        <p:tgtEl>
                                          <p:spTgt spid="26"/>
                                        </p:tgtEl>
                                        <p:attrNameLst>
                                          <p:attrName>ppt_y</p:attrName>
                                        </p:attrNameLst>
                                      </p:cBhvr>
                                      <p:tavLst>
                                        <p:tav tm="0">
                                          <p:val>
                                            <p:strVal val="#ppt_y+.08"/>
                                          </p:val>
                                        </p:tav>
                                        <p:tav tm="100000">
                                          <p:val>
                                            <p:strVal val="#ppt_y"/>
                                          </p:val>
                                        </p:tav>
                                      </p:tavLst>
                                    </p:anim>
                                  </p:childTnLst>
                                </p:cTn>
                              </p:par>
                            </p:childTnLst>
                          </p:cTn>
                        </p:par>
                        <p:par>
                          <p:cTn id="27" fill="hold">
                            <p:stCondLst>
                              <p:cond delay="2480"/>
                            </p:stCondLst>
                            <p:childTnLst>
                              <p:par>
                                <p:cTn id="28" presetID="42" presetClass="entr" presetSubtype="0" fill="hold" nodeType="afterEffect">
                                  <p:stCondLst>
                                    <p:cond delay="0"/>
                                  </p:stCondLst>
                                  <p:childTnLst>
                                    <p:set>
                                      <p:cBhvr>
                                        <p:cTn id="29" dur="1" fill="hold">
                                          <p:stCondLst>
                                            <p:cond delay="0"/>
                                          </p:stCondLst>
                                        </p:cTn>
                                        <p:tgtEl>
                                          <p:spTgt spid="32"/>
                                        </p:tgtEl>
                                        <p:attrNameLst>
                                          <p:attrName>style.visibility</p:attrName>
                                        </p:attrNameLst>
                                      </p:cBhvr>
                                      <p:to>
                                        <p:strVal val="visible"/>
                                      </p:to>
                                    </p:set>
                                    <p:animEffect transition="in" filter="fade">
                                      <p:cBhvr>
                                        <p:cTn id="30" dur="500"/>
                                        <p:tgtEl>
                                          <p:spTgt spid="32"/>
                                        </p:tgtEl>
                                      </p:cBhvr>
                                    </p:animEffect>
                                    <p:anim calcmode="lin" valueType="num">
                                      <p:cBhvr additive="base">
                                        <p:cTn id="31" dur="500" fill="hold"/>
                                        <p:tgtEl>
                                          <p:spTgt spid="32"/>
                                        </p:tgtEl>
                                        <p:attrNameLst>
                                          <p:attrName>ppt_x</p:attrName>
                                        </p:attrNameLst>
                                      </p:cBhvr>
                                      <p:tavLst>
                                        <p:tav tm="0">
                                          <p:val>
                                            <p:strVal val="#ppt_x"/>
                                          </p:val>
                                        </p:tav>
                                        <p:tav tm="100000">
                                          <p:val>
                                            <p:strVal val="#ppt_x"/>
                                          </p:val>
                                        </p:tav>
                                      </p:tavLst>
                                    </p:anim>
                                    <p:anim calcmode="lin" valueType="num">
                                      <p:cBhvr additive="base">
                                        <p:cTn id="32" dur="500" fill="hold"/>
                                        <p:tgtEl>
                                          <p:spTgt spid="32"/>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8EF"/>
        </a:solidFill>
        <a:effectLst/>
      </p:bgPr>
    </p:bg>
    <p:spTree>
      <p:nvGrpSpPr>
        <p:cNvPr id="1" name=""/>
        <p:cNvGrpSpPr/>
        <p:nvPr/>
      </p:nvGrpSpPr>
      <p:grpSpPr/>
      <p:sp>
        <p:nvSpPr>
          <p:cNvPr id="2" name="!!b1"/>
          <p:cNvSpPr/>
          <p:nvPr/>
        </p:nvSpPr>
        <p:spPr>
          <a:xfrm>
            <a:off x="10241280" y="-1463040"/>
            <a:ext cx="2743200" cy="2743200"/>
          </a:xfrm>
          <a:prstGeom prst="ellipse">
            <a:avLst/>
          </a:prstGeom>
          <a:solidFill>
            <a:srgbClr val="E8475A">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b2"/>
          <p:cNvSpPr/>
          <p:nvPr/>
        </p:nvSpPr>
        <p:spPr>
          <a:xfrm>
            <a:off x="-731520" y="6035040"/>
            <a:ext cx="1463040" cy="1463040"/>
          </a:xfrm>
          <a:prstGeom prst="ellipse">
            <a:avLst/>
          </a:prstGeom>
          <a:solidFill>
            <a:srgbClr val="FFC247">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3"/>
          <p:cNvSpPr/>
          <p:nvPr/>
        </p:nvSpPr>
        <p:spPr>
          <a:xfrm>
            <a:off x="11704320" y="5852160"/>
            <a:ext cx="914400" cy="914400"/>
          </a:xfrm>
          <a:prstGeom prst="ellipse">
            <a:avLst/>
          </a:prstGeom>
          <a:solidFill>
            <a:srgbClr val="3B5BDB">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rogress"/>
          <p:cNvSpPr/>
          <p:nvPr/>
        </p:nvSpPr>
        <p:spPr>
          <a:xfrm>
            <a:off x="0" y="6748272"/>
            <a:ext cx="8708353" cy="109728"/>
          </a:xfrm>
          <a:prstGeom prst="rect">
            <a:avLst/>
          </a:prstGeom>
          <a:solidFill>
            <a:srgbClr val="E84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ot"/>
          <p:cNvSpPr/>
          <p:nvPr/>
        </p:nvSpPr>
        <p:spPr>
          <a:xfrm>
            <a:off x="640080" y="566928"/>
            <a:ext cx="310896" cy="310896"/>
          </a:xfrm>
          <a:prstGeom prst="ellipse">
            <a:avLst/>
          </a:prstGeom>
          <a:solidFill>
            <a:srgbClr val="3B5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365760"/>
            <a:ext cx="10424160" cy="731520"/>
          </a:xfrm>
          <a:prstGeom prst="rect">
            <a:avLst/>
          </a:prstGeom>
          <a:noFill/>
        </p:spPr>
        <p:txBody>
          <a:bodyPr wrap="square" lIns="0" rIns="0" tIns="0" bIns="0" anchor="ctr">
            <a:spAutoFit/>
          </a:bodyPr>
          <a:lstStyle/>
          <a:p>
            <a:pPr algn="l"/>
            <a:r>
              <a:rPr sz="3800" b="1">
                <a:solidFill>
                  <a:srgbClr val="1E1740"/>
                </a:solidFill>
                <a:latin typeface="Calibri"/>
              </a:rPr>
              <a:t>Who benefits?</a:t>
            </a:r>
          </a:p>
        </p:txBody>
      </p:sp>
      <p:grpSp>
        <p:nvGrpSpPr>
          <p:cNvPr id="8" name="Group 7"/>
          <p:cNvGrpSpPr/>
          <p:nvPr/>
        </p:nvGrpSpPr>
        <p:grpSpPr>
          <a:xfrm>
            <a:off x="640080" y="1508760"/>
            <a:ext cx="3474720" cy="2331720"/>
            <a:chOff x="640080" y="1508760"/>
            <a:chExt cx="3474720" cy="2331720"/>
          </a:xfrm>
        </p:grpSpPr>
        <p:sp>
          <p:nvSpPr>
            <p:cNvPr id="9" name="Rounded Rectangle 8"/>
            <p:cNvSpPr/>
            <p:nvPr/>
          </p:nvSpPr>
          <p:spPr>
            <a:xfrm>
              <a:off x="640080" y="1508760"/>
              <a:ext cx="3474720" cy="2331720"/>
            </a:xfrm>
            <a:prstGeom prst="roundRect">
              <a:avLst>
                <a:gd name="adj" fmla="val 7000"/>
              </a:avLst>
            </a:prstGeom>
            <a:solidFill>
              <a:srgbClr val="FFFFFF"/>
            </a:solidFill>
            <a:ln w="31750">
              <a:solidFill>
                <a:srgbClr val="E8475A"/>
              </a:solidFill>
            </a:ln>
            <a:effectLst>
              <a:outerShdw blurRad="203200" dist="63500" dir="5400000" algn="t" rotWithShape="0">
                <a:srgbClr val="2D1E5F">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14400" y="1764792"/>
              <a:ext cx="868680" cy="868680"/>
            </a:xfrm>
            <a:prstGeom prst="ellipse">
              <a:avLst/>
            </a:prstGeom>
            <a:gradFill rotWithShape="1">
              <a:gsLst>
                <a:gs pos="0">
                  <a:srgbClr val="ED6C7B"/>
                </a:gs>
                <a:gs pos="100000">
                  <a:srgbClr val="E8475A"/>
                </a:gs>
              </a:gsLst>
              <a:lin scaled="0" ang="2700000"/>
            </a:gradFill>
            <a:ln>
              <a:noFill/>
            </a:ln>
            <a:effectLst>
              <a:outerShdw blurRad="127000" dist="50800" dir="5400000" algn="t" rotWithShape="0">
                <a:srgbClr val="E8475A">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nut 10"/>
            <p:cNvSpPr/>
            <p:nvPr/>
          </p:nvSpPr>
          <p:spPr>
            <a:xfrm>
              <a:off x="1124712" y="1975104"/>
              <a:ext cx="457200" cy="457200"/>
            </a:xfrm>
            <a:prstGeom prst="donu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743200"/>
              <a:ext cx="3017520" cy="457200"/>
            </a:xfrm>
            <a:prstGeom prst="rect">
              <a:avLst/>
            </a:prstGeom>
            <a:noFill/>
          </p:spPr>
          <p:txBody>
            <a:bodyPr wrap="square" lIns="0" rIns="0" tIns="0" bIns="0" anchor="t">
              <a:spAutoFit/>
            </a:bodyPr>
            <a:lstStyle/>
            <a:p>
              <a:pPr algn="l"/>
              <a:r>
                <a:rPr sz="2400" b="1">
                  <a:solidFill>
                    <a:srgbClr val="1E1740"/>
                  </a:solidFill>
                  <a:latin typeface="Calibri"/>
                </a:rPr>
                <a:t>Companies and brands</a:t>
              </a:r>
            </a:p>
          </p:txBody>
        </p:sp>
        <p:sp>
          <p:nvSpPr>
            <p:cNvPr id="13" name="TextBox 12"/>
            <p:cNvSpPr txBox="1"/>
            <p:nvPr/>
          </p:nvSpPr>
          <p:spPr>
            <a:xfrm>
              <a:off x="914400" y="3200400"/>
              <a:ext cx="3017520" cy="594360"/>
            </a:xfrm>
            <a:prstGeom prst="rect">
              <a:avLst/>
            </a:prstGeom>
            <a:noFill/>
          </p:spPr>
          <p:txBody>
            <a:bodyPr wrap="square" lIns="0" rIns="0" tIns="0" bIns="0" anchor="t">
              <a:spAutoFit/>
            </a:bodyPr>
            <a:lstStyle/>
            <a:p>
              <a:pPr algn="l"/>
              <a:r>
                <a:rPr sz="2000" b="0">
                  <a:solidFill>
                    <a:srgbClr val="5E5878"/>
                  </a:solidFill>
                  <a:latin typeface="Calibri"/>
                </a:rPr>
                <a:t>They know how many people really saw a mention</a:t>
              </a:r>
            </a:p>
          </p:txBody>
        </p:sp>
      </p:grpSp>
      <p:grpSp>
        <p:nvGrpSpPr>
          <p:cNvPr id="14" name="Group 13"/>
          <p:cNvGrpSpPr/>
          <p:nvPr/>
        </p:nvGrpSpPr>
        <p:grpSpPr>
          <a:xfrm>
            <a:off x="4361688" y="1508760"/>
            <a:ext cx="3474720" cy="2331720"/>
            <a:chOff x="4361688" y="1508760"/>
            <a:chExt cx="3474720" cy="2331720"/>
          </a:xfrm>
        </p:grpSpPr>
        <p:sp>
          <p:nvSpPr>
            <p:cNvPr id="15" name="Rounded Rectangle 14"/>
            <p:cNvSpPr/>
            <p:nvPr/>
          </p:nvSpPr>
          <p:spPr>
            <a:xfrm>
              <a:off x="4361688" y="1508760"/>
              <a:ext cx="3474720" cy="2331720"/>
            </a:xfrm>
            <a:prstGeom prst="roundRect">
              <a:avLst>
                <a:gd name="adj" fmla="val 7000"/>
              </a:avLst>
            </a:prstGeom>
            <a:solidFill>
              <a:srgbClr val="FFFFFF"/>
            </a:solidFill>
            <a:ln w="31750">
              <a:solidFill>
                <a:srgbClr val="3B5BDB"/>
              </a:solidFill>
            </a:ln>
            <a:effectLst>
              <a:outerShdw blurRad="203200" dist="63500" dir="5400000" algn="t" rotWithShape="0">
                <a:srgbClr val="2D1E5F">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636007" y="1764792"/>
              <a:ext cx="868680" cy="868680"/>
            </a:xfrm>
            <a:prstGeom prst="ellipse">
              <a:avLst/>
            </a:prstGeom>
            <a:gradFill rotWithShape="1">
              <a:gsLst>
                <a:gs pos="0">
                  <a:srgbClr val="627CE2"/>
                </a:gs>
                <a:gs pos="100000">
                  <a:srgbClr val="3B5BDB"/>
                </a:gs>
              </a:gsLst>
              <a:lin scaled="0" ang="2700000"/>
            </a:gradFill>
            <a:ln>
              <a:noFill/>
            </a:ln>
            <a:effectLst>
              <a:outerShdw blurRad="127000" dist="50800" dir="5400000" algn="t" rotWithShape="0">
                <a:srgbClr val="3B5BDB">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5-Point Star 16"/>
            <p:cNvSpPr/>
            <p:nvPr/>
          </p:nvSpPr>
          <p:spPr>
            <a:xfrm>
              <a:off x="4846320" y="1975104"/>
              <a:ext cx="457200" cy="457200"/>
            </a:xfrm>
            <a:prstGeom prst="star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36007" y="2743200"/>
              <a:ext cx="3017520" cy="457200"/>
            </a:xfrm>
            <a:prstGeom prst="rect">
              <a:avLst/>
            </a:prstGeom>
            <a:noFill/>
          </p:spPr>
          <p:txBody>
            <a:bodyPr wrap="square" lIns="0" rIns="0" tIns="0" bIns="0" anchor="t">
              <a:spAutoFit/>
            </a:bodyPr>
            <a:lstStyle/>
            <a:p>
              <a:pPr algn="l"/>
              <a:r>
                <a:rPr sz="2400" b="1">
                  <a:solidFill>
                    <a:srgbClr val="1E1740"/>
                  </a:solidFill>
                  <a:latin typeface="Calibri"/>
                </a:rPr>
                <a:t>Small businesses and NGOs</a:t>
              </a:r>
            </a:p>
          </p:txBody>
        </p:sp>
        <p:sp>
          <p:nvSpPr>
            <p:cNvPr id="19" name="TextBox 18"/>
            <p:cNvSpPr txBox="1"/>
            <p:nvPr/>
          </p:nvSpPr>
          <p:spPr>
            <a:xfrm>
              <a:off x="4636007" y="3200400"/>
              <a:ext cx="3017520" cy="594360"/>
            </a:xfrm>
            <a:prstGeom prst="rect">
              <a:avLst/>
            </a:prstGeom>
            <a:noFill/>
          </p:spPr>
          <p:txBody>
            <a:bodyPr wrap="square" lIns="0" rIns="0" tIns="0" bIns="0" anchor="t">
              <a:spAutoFit/>
            </a:bodyPr>
            <a:lstStyle/>
            <a:p>
              <a:pPr algn="l"/>
              <a:r>
                <a:rPr sz="2000" b="0">
                  <a:solidFill>
                    <a:srgbClr val="5E5878"/>
                  </a:solidFill>
                  <a:latin typeface="Calibri"/>
                </a:rPr>
                <a:t>A reliable picture without costly platform data</a:t>
              </a:r>
            </a:p>
          </p:txBody>
        </p:sp>
      </p:grpSp>
      <p:grpSp>
        <p:nvGrpSpPr>
          <p:cNvPr id="20" name="Group 19"/>
          <p:cNvGrpSpPr/>
          <p:nvPr/>
        </p:nvGrpSpPr>
        <p:grpSpPr>
          <a:xfrm>
            <a:off x="8083296" y="1508760"/>
            <a:ext cx="3474720" cy="2331720"/>
            <a:chOff x="8083296" y="1508760"/>
            <a:chExt cx="3474720" cy="2331720"/>
          </a:xfrm>
        </p:grpSpPr>
        <p:sp>
          <p:nvSpPr>
            <p:cNvPr id="21" name="Rounded Rectangle 20"/>
            <p:cNvSpPr/>
            <p:nvPr/>
          </p:nvSpPr>
          <p:spPr>
            <a:xfrm>
              <a:off x="8083296" y="1508760"/>
              <a:ext cx="3474720" cy="2331720"/>
            </a:xfrm>
            <a:prstGeom prst="roundRect">
              <a:avLst>
                <a:gd name="adj" fmla="val 7000"/>
              </a:avLst>
            </a:prstGeom>
            <a:solidFill>
              <a:srgbClr val="FFFFFF"/>
            </a:solidFill>
            <a:ln w="31750">
              <a:solidFill>
                <a:srgbClr val="FFC247"/>
              </a:solidFill>
            </a:ln>
            <a:effectLst>
              <a:outerShdw blurRad="203200" dist="63500" dir="5400000" algn="t" rotWithShape="0">
                <a:srgbClr val="2D1E5F">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357616" y="1764792"/>
              <a:ext cx="868680" cy="868680"/>
            </a:xfrm>
            <a:prstGeom prst="ellipse">
              <a:avLst/>
            </a:prstGeom>
            <a:gradFill rotWithShape="1">
              <a:gsLst>
                <a:gs pos="0">
                  <a:srgbClr val="FFCE6C"/>
                </a:gs>
                <a:gs pos="100000">
                  <a:srgbClr val="FFC247"/>
                </a:gs>
              </a:gsLst>
              <a:lin scaled="0" ang="2700000"/>
            </a:gradFill>
            <a:ln>
              <a:noFill/>
            </a:ln>
            <a:effectLst>
              <a:outerShdw blurRad="127000" dist="50800" dir="5400000" algn="t" rotWithShape="0">
                <a:srgbClr val="FFC247">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Lightning Bolt 22"/>
            <p:cNvSpPr/>
            <p:nvPr/>
          </p:nvSpPr>
          <p:spPr>
            <a:xfrm>
              <a:off x="8567928" y="1975104"/>
              <a:ext cx="457200" cy="457200"/>
            </a:xfrm>
            <a:prstGeom prst="lightningBolt">
              <a:avLst/>
            </a:prstGeom>
            <a:solidFill>
              <a:srgbClr val="1E17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57616" y="2743200"/>
              <a:ext cx="3017520" cy="457200"/>
            </a:xfrm>
            <a:prstGeom prst="rect">
              <a:avLst/>
            </a:prstGeom>
            <a:noFill/>
          </p:spPr>
          <p:txBody>
            <a:bodyPr wrap="square" lIns="0" rIns="0" tIns="0" bIns="0" anchor="t">
              <a:spAutoFit/>
            </a:bodyPr>
            <a:lstStyle/>
            <a:p>
              <a:pPr algn="l"/>
              <a:r>
                <a:rPr sz="2400" b="1">
                  <a:solidFill>
                    <a:srgbClr val="1E1740"/>
                  </a:solidFill>
                  <a:latin typeface="Calibri"/>
                </a:rPr>
                <a:t>Journalists</a:t>
              </a:r>
            </a:p>
          </p:txBody>
        </p:sp>
        <p:sp>
          <p:nvSpPr>
            <p:cNvPr id="25" name="TextBox 24"/>
            <p:cNvSpPr txBox="1"/>
            <p:nvPr/>
          </p:nvSpPr>
          <p:spPr>
            <a:xfrm>
              <a:off x="8357616" y="3200400"/>
              <a:ext cx="3017520" cy="594360"/>
            </a:xfrm>
            <a:prstGeom prst="rect">
              <a:avLst/>
            </a:prstGeom>
            <a:noFill/>
          </p:spPr>
          <p:txBody>
            <a:bodyPr wrap="square" lIns="0" rIns="0" tIns="0" bIns="0" anchor="t">
              <a:spAutoFit/>
            </a:bodyPr>
            <a:lstStyle/>
            <a:p>
              <a:pPr algn="l"/>
              <a:r>
                <a:rPr sz="2000" b="0">
                  <a:solidFill>
                    <a:srgbClr val="5E5878"/>
                  </a:solidFill>
                  <a:latin typeface="Calibri"/>
                </a:rPr>
                <a:t>They see how far disinformation has spread</a:t>
              </a:r>
            </a:p>
          </p:txBody>
        </p:sp>
      </p:grpSp>
      <p:grpSp>
        <p:nvGrpSpPr>
          <p:cNvPr id="26" name="Group 25"/>
          <p:cNvGrpSpPr/>
          <p:nvPr/>
        </p:nvGrpSpPr>
        <p:grpSpPr>
          <a:xfrm>
            <a:off x="2500884" y="4023360"/>
            <a:ext cx="3474720" cy="2331720"/>
            <a:chOff x="2500884" y="4023360"/>
            <a:chExt cx="3474720" cy="2331720"/>
          </a:xfrm>
        </p:grpSpPr>
        <p:sp>
          <p:nvSpPr>
            <p:cNvPr id="27" name="Rounded Rectangle 26"/>
            <p:cNvSpPr/>
            <p:nvPr/>
          </p:nvSpPr>
          <p:spPr>
            <a:xfrm>
              <a:off x="2500884" y="4023360"/>
              <a:ext cx="3474720" cy="2331720"/>
            </a:xfrm>
            <a:prstGeom prst="roundRect">
              <a:avLst>
                <a:gd name="adj" fmla="val 7000"/>
              </a:avLst>
            </a:prstGeom>
            <a:solidFill>
              <a:srgbClr val="FFFFFF"/>
            </a:solidFill>
            <a:ln w="31750">
              <a:solidFill>
                <a:srgbClr val="1FB59A"/>
              </a:solidFill>
            </a:ln>
            <a:effectLst>
              <a:outerShdw blurRad="203200" dist="63500" dir="5400000" algn="t" rotWithShape="0">
                <a:srgbClr val="2D1E5F">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2775203" y="4279392"/>
              <a:ext cx="868680" cy="868680"/>
            </a:xfrm>
            <a:prstGeom prst="ellipse">
              <a:avLst/>
            </a:prstGeom>
            <a:gradFill rotWithShape="1">
              <a:gsLst>
                <a:gs pos="0">
                  <a:srgbClr val="4CC4AE"/>
                </a:gs>
                <a:gs pos="100000">
                  <a:srgbClr val="1FB59A"/>
                </a:gs>
              </a:gsLst>
              <a:lin scaled="0" ang="2700000"/>
            </a:gradFill>
            <a:ln>
              <a:noFill/>
            </a:ln>
            <a:effectLst>
              <a:outerShdw blurRad="127000" dist="50800" dir="5400000" algn="t" rotWithShape="0">
                <a:srgbClr val="1FB59A">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Up Arrow 28"/>
            <p:cNvSpPr/>
            <p:nvPr/>
          </p:nvSpPr>
          <p:spPr>
            <a:xfrm>
              <a:off x="2985515" y="4489704"/>
              <a:ext cx="457200" cy="457200"/>
            </a:xfrm>
            <a:prstGeom prst="upArrow">
              <a:avLst/>
            </a:prstGeom>
            <a:solidFill>
              <a:srgbClr val="1E17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775203" y="5257800"/>
              <a:ext cx="3017520" cy="457200"/>
            </a:xfrm>
            <a:prstGeom prst="rect">
              <a:avLst/>
            </a:prstGeom>
            <a:noFill/>
          </p:spPr>
          <p:txBody>
            <a:bodyPr wrap="square" lIns="0" rIns="0" tIns="0" bIns="0" anchor="t">
              <a:spAutoFit/>
            </a:bodyPr>
            <a:lstStyle/>
            <a:p>
              <a:pPr algn="l"/>
              <a:r>
                <a:rPr sz="2400" b="1">
                  <a:solidFill>
                    <a:srgbClr val="1E1740"/>
                  </a:solidFill>
                  <a:latin typeface="Calibri"/>
                </a:rPr>
                <a:t>Media researchers</a:t>
              </a:r>
            </a:p>
          </p:txBody>
        </p:sp>
        <p:sp>
          <p:nvSpPr>
            <p:cNvPr id="31" name="TextBox 30"/>
            <p:cNvSpPr txBox="1"/>
            <p:nvPr/>
          </p:nvSpPr>
          <p:spPr>
            <a:xfrm>
              <a:off x="2775203" y="5715000"/>
              <a:ext cx="3017520" cy="594360"/>
            </a:xfrm>
            <a:prstGeom prst="rect">
              <a:avLst/>
            </a:prstGeom>
            <a:noFill/>
          </p:spPr>
          <p:txBody>
            <a:bodyPr wrap="square" lIns="0" rIns="0" tIns="0" bIns="0" anchor="t">
              <a:spAutoFit/>
            </a:bodyPr>
            <a:lstStyle/>
            <a:p>
              <a:pPr algn="l"/>
              <a:r>
                <a:rPr sz="2000" b="0">
                  <a:solidFill>
                    <a:srgbClr val="5E5878"/>
                  </a:solidFill>
                  <a:latin typeface="Calibri"/>
                </a:rPr>
                <a:t>A measure with uncertainty instead of guessing</a:t>
              </a:r>
            </a:p>
          </p:txBody>
        </p:sp>
      </p:grpSp>
      <p:grpSp>
        <p:nvGrpSpPr>
          <p:cNvPr id="32" name="Group 31"/>
          <p:cNvGrpSpPr/>
          <p:nvPr/>
        </p:nvGrpSpPr>
        <p:grpSpPr>
          <a:xfrm>
            <a:off x="6222492" y="4023360"/>
            <a:ext cx="3474720" cy="2331720"/>
            <a:chOff x="6222492" y="4023360"/>
            <a:chExt cx="3474720" cy="2331720"/>
          </a:xfrm>
        </p:grpSpPr>
        <p:sp>
          <p:nvSpPr>
            <p:cNvPr id="33" name="Rounded Rectangle 32"/>
            <p:cNvSpPr/>
            <p:nvPr/>
          </p:nvSpPr>
          <p:spPr>
            <a:xfrm>
              <a:off x="6222492" y="4023360"/>
              <a:ext cx="3474720" cy="2331720"/>
            </a:xfrm>
            <a:prstGeom prst="roundRect">
              <a:avLst>
                <a:gd name="adj" fmla="val 7000"/>
              </a:avLst>
            </a:prstGeom>
            <a:solidFill>
              <a:srgbClr val="FFFFFF"/>
            </a:solidFill>
            <a:ln w="31750">
              <a:solidFill>
                <a:srgbClr val="2D1E5F"/>
              </a:solidFill>
            </a:ln>
            <a:effectLst>
              <a:outerShdw blurRad="203200" dist="63500" dir="5400000" algn="t" rotWithShape="0">
                <a:srgbClr val="2D1E5F">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96812" y="4279392"/>
              <a:ext cx="868680" cy="868680"/>
            </a:xfrm>
            <a:prstGeom prst="ellipse">
              <a:avLst/>
            </a:prstGeom>
            <a:gradFill rotWithShape="1">
              <a:gsLst>
                <a:gs pos="0">
                  <a:srgbClr val="574B7F"/>
                </a:gs>
                <a:gs pos="100000">
                  <a:srgbClr val="2D1E5F"/>
                </a:gs>
              </a:gsLst>
              <a:lin scaled="0" ang="2700000"/>
            </a:gradFill>
            <a:ln>
              <a:noFill/>
            </a:ln>
            <a:effectLst>
              <a:outerShdw blurRad="127000" dist="50800" dir="5400000" algn="t" rotWithShape="0">
                <a:srgbClr val="2D1E5F">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725412" y="4736592"/>
              <a:ext cx="100584"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871716" y="4590288"/>
              <a:ext cx="100584"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018020" y="4443984"/>
              <a:ext cx="100584" cy="4937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96812" y="5257800"/>
              <a:ext cx="3017520" cy="457200"/>
            </a:xfrm>
            <a:prstGeom prst="rect">
              <a:avLst/>
            </a:prstGeom>
            <a:noFill/>
          </p:spPr>
          <p:txBody>
            <a:bodyPr wrap="square" lIns="0" rIns="0" tIns="0" bIns="0" anchor="t">
              <a:spAutoFit/>
            </a:bodyPr>
            <a:lstStyle/>
            <a:p>
              <a:pPr algn="l"/>
              <a:r>
                <a:rPr sz="2400" b="1">
                  <a:solidFill>
                    <a:srgbClr val="1E1740"/>
                  </a:solidFill>
                  <a:latin typeface="Calibri"/>
                </a:rPr>
                <a:t>All of us</a:t>
              </a:r>
            </a:p>
          </p:txBody>
        </p:sp>
        <p:sp>
          <p:nvSpPr>
            <p:cNvPr id="39" name="TextBox 38"/>
            <p:cNvSpPr txBox="1"/>
            <p:nvPr/>
          </p:nvSpPr>
          <p:spPr>
            <a:xfrm>
              <a:off x="6496812" y="5715000"/>
              <a:ext cx="3017520" cy="594360"/>
            </a:xfrm>
            <a:prstGeom prst="rect">
              <a:avLst/>
            </a:prstGeom>
            <a:noFill/>
          </p:spPr>
          <p:txBody>
            <a:bodyPr wrap="square" lIns="0" rIns="0" tIns="0" bIns="0" anchor="t">
              <a:spAutoFit/>
            </a:bodyPr>
            <a:lstStyle/>
            <a:p>
              <a:pPr algn="l"/>
              <a:r>
                <a:rPr sz="2000" b="0">
                  <a:solidFill>
                    <a:srgbClr val="5E5878"/>
                  </a:solidFill>
                  <a:latin typeface="Calibri"/>
                </a:rPr>
                <a:t>Fewer inflated statistics in circulation</a:t>
              </a: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9" fill="hold">
                      <p:stCondLst>
                        <p:cond delay="indefinite"/>
                        <p:cond evt="onBegin" delay="0">
                          <p:tn val="2"/>
                        </p:cond>
                      </p:stCondLst>
                      <p:childTnLst>
                        <p:par>
                          <p:cTn id="3" fill="hold">
                            <p:stCondLst>
                              <p:cond delay="0"/>
                            </p:stCondLst>
                            <p:childTnLst>
                              <p:par>
                                <p:cTn id="4" presetID="42" presetClass="entr" presetSubtype="0" fill="hold" nodeType="afterEffect">
                                  <p:stCondLst>
                                    <p:cond delay="0"/>
                                  </p:stCondLst>
                                  <p:childTnLst>
                                    <p:set>
                                      <p:cBhvr>
                                        <p:cTn id="5" dur="1" fill="hold">
                                          <p:stCondLst>
                                            <p:cond delay="0"/>
                                          </p:stCondLst>
                                        </p:cTn>
                                        <p:tgtEl>
                                          <p:spTgt spid="8"/>
                                        </p:tgtEl>
                                        <p:attrNameLst>
                                          <p:attrName>style.visibility</p:attrName>
                                        </p:attrNameLst>
                                      </p:cBhvr>
                                      <p:to>
                                        <p:strVal val="visible"/>
                                      </p:to>
                                    </p:set>
                                    <p:animEffect transition="in" filter="fade">
                                      <p:cBhvr>
                                        <p:cTn id="6" dur="500"/>
                                        <p:tgtEl>
                                          <p:spTgt spid="8"/>
                                        </p:tgtEl>
                                      </p:cBhvr>
                                    </p:animEffec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ppt_y+.08"/>
                                          </p:val>
                                        </p:tav>
                                        <p:tav tm="100000">
                                          <p:val>
                                            <p:strVal val="#ppt_y"/>
                                          </p:val>
                                        </p:tav>
                                      </p:tavLst>
                                    </p:anim>
                                  </p:childTnLst>
                                </p:cTn>
                              </p:par>
                            </p:childTnLst>
                          </p:cTn>
                        </p:par>
                        <p:par>
                          <p:cTn id="9" fill="hold">
                            <p:stCondLst>
                              <p:cond delay="620"/>
                            </p:stCondLst>
                            <p:childTnLst>
                              <p:par>
                                <p:cTn id="10" presetID="42" presetClass="entr" presetSubtype="0" fill="hold" nodeType="after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ppt_y+.08"/>
                                          </p:val>
                                        </p:tav>
                                        <p:tav tm="100000">
                                          <p:val>
                                            <p:strVal val="#ppt_y"/>
                                          </p:val>
                                        </p:tav>
                                      </p:tavLst>
                                    </p:anim>
                                  </p:childTnLst>
                                </p:cTn>
                              </p:par>
                            </p:childTnLst>
                          </p:cTn>
                        </p:par>
                        <p:par>
                          <p:cTn id="15" fill="hold">
                            <p:stCondLst>
                              <p:cond delay="1240"/>
                            </p:stCondLst>
                            <p:childTnLst>
                              <p:par>
                                <p:cTn id="16" presetID="42" presetClass="entr" presetSubtype="0" fill="hold" nodeType="after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anim calcmode="lin" valueType="num">
                                      <p:cBhvr additive="base">
                                        <p:cTn id="19" dur="500" fill="hold"/>
                                        <p:tgtEl>
                                          <p:spTgt spid="20"/>
                                        </p:tgtEl>
                                        <p:attrNameLst>
                                          <p:attrName>ppt_x</p:attrName>
                                        </p:attrNameLst>
                                      </p:cBhvr>
                                      <p:tavLst>
                                        <p:tav tm="0">
                                          <p:val>
                                            <p:strVal val="#ppt_x"/>
                                          </p:val>
                                        </p:tav>
                                        <p:tav tm="100000">
                                          <p:val>
                                            <p:strVal val="#ppt_x"/>
                                          </p:val>
                                        </p:tav>
                                      </p:tavLst>
                                    </p:anim>
                                    <p:anim calcmode="lin" valueType="num">
                                      <p:cBhvr additive="base">
                                        <p:cTn id="20" dur="500" fill="hold"/>
                                        <p:tgtEl>
                                          <p:spTgt spid="20"/>
                                        </p:tgtEl>
                                        <p:attrNameLst>
                                          <p:attrName>ppt_y</p:attrName>
                                        </p:attrNameLst>
                                      </p:cBhvr>
                                      <p:tavLst>
                                        <p:tav tm="0">
                                          <p:val>
                                            <p:strVal val="#ppt_y+.08"/>
                                          </p:val>
                                        </p:tav>
                                        <p:tav tm="100000">
                                          <p:val>
                                            <p:strVal val="#ppt_y"/>
                                          </p:val>
                                        </p:tav>
                                      </p:tavLst>
                                    </p:anim>
                                  </p:childTnLst>
                                </p:cTn>
                              </p:par>
                            </p:childTnLst>
                          </p:cTn>
                        </p:par>
                        <p:par>
                          <p:cTn id="21" fill="hold">
                            <p:stCondLst>
                              <p:cond delay="1860"/>
                            </p:stCondLst>
                            <p:childTnLst>
                              <p:par>
                                <p:cTn id="22" presetID="42" presetClass="entr" presetSubtype="0" fill="hold" nodeType="after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fade">
                                      <p:cBhvr>
                                        <p:cTn id="24" dur="500"/>
                                        <p:tgtEl>
                                          <p:spTgt spid="26"/>
                                        </p:tgtEl>
                                      </p:cBhvr>
                                    </p:animEffect>
                                    <p:anim calcmode="lin" valueType="num">
                                      <p:cBhvr additive="base">
                                        <p:cTn id="25" dur="500" fill="hold"/>
                                        <p:tgtEl>
                                          <p:spTgt spid="26"/>
                                        </p:tgtEl>
                                        <p:attrNameLst>
                                          <p:attrName>ppt_x</p:attrName>
                                        </p:attrNameLst>
                                      </p:cBhvr>
                                      <p:tavLst>
                                        <p:tav tm="0">
                                          <p:val>
                                            <p:strVal val="#ppt_x"/>
                                          </p:val>
                                        </p:tav>
                                        <p:tav tm="100000">
                                          <p:val>
                                            <p:strVal val="#ppt_x"/>
                                          </p:val>
                                        </p:tav>
                                      </p:tavLst>
                                    </p:anim>
                                    <p:anim calcmode="lin" valueType="num">
                                      <p:cBhvr additive="base">
                                        <p:cTn id="26" dur="500" fill="hold"/>
                                        <p:tgtEl>
                                          <p:spTgt spid="26"/>
                                        </p:tgtEl>
                                        <p:attrNameLst>
                                          <p:attrName>ppt_y</p:attrName>
                                        </p:attrNameLst>
                                      </p:cBhvr>
                                      <p:tavLst>
                                        <p:tav tm="0">
                                          <p:val>
                                            <p:strVal val="#ppt_y+.08"/>
                                          </p:val>
                                        </p:tav>
                                        <p:tav tm="100000">
                                          <p:val>
                                            <p:strVal val="#ppt_y"/>
                                          </p:val>
                                        </p:tav>
                                      </p:tavLst>
                                    </p:anim>
                                  </p:childTnLst>
                                </p:cTn>
                              </p:par>
                            </p:childTnLst>
                          </p:cTn>
                        </p:par>
                        <p:par>
                          <p:cTn id="27" fill="hold">
                            <p:stCondLst>
                              <p:cond delay="2480"/>
                            </p:stCondLst>
                            <p:childTnLst>
                              <p:par>
                                <p:cTn id="28" presetID="42" presetClass="entr" presetSubtype="0" fill="hold" nodeType="afterEffect">
                                  <p:stCondLst>
                                    <p:cond delay="0"/>
                                  </p:stCondLst>
                                  <p:childTnLst>
                                    <p:set>
                                      <p:cBhvr>
                                        <p:cTn id="29" dur="1" fill="hold">
                                          <p:stCondLst>
                                            <p:cond delay="0"/>
                                          </p:stCondLst>
                                        </p:cTn>
                                        <p:tgtEl>
                                          <p:spTgt spid="32"/>
                                        </p:tgtEl>
                                        <p:attrNameLst>
                                          <p:attrName>style.visibility</p:attrName>
                                        </p:attrNameLst>
                                      </p:cBhvr>
                                      <p:to>
                                        <p:strVal val="visible"/>
                                      </p:to>
                                    </p:set>
                                    <p:animEffect transition="in" filter="fade">
                                      <p:cBhvr>
                                        <p:cTn id="30" dur="500"/>
                                        <p:tgtEl>
                                          <p:spTgt spid="32"/>
                                        </p:tgtEl>
                                      </p:cBhvr>
                                    </p:animEffect>
                                    <p:anim calcmode="lin" valueType="num">
                                      <p:cBhvr additive="base">
                                        <p:cTn id="31" dur="500" fill="hold"/>
                                        <p:tgtEl>
                                          <p:spTgt spid="32"/>
                                        </p:tgtEl>
                                        <p:attrNameLst>
                                          <p:attrName>ppt_x</p:attrName>
                                        </p:attrNameLst>
                                      </p:cBhvr>
                                      <p:tavLst>
                                        <p:tav tm="0">
                                          <p:val>
                                            <p:strVal val="#ppt_x"/>
                                          </p:val>
                                        </p:tav>
                                        <p:tav tm="100000">
                                          <p:val>
                                            <p:strVal val="#ppt_x"/>
                                          </p:val>
                                        </p:tav>
                                      </p:tavLst>
                                    </p:anim>
                                    <p:anim calcmode="lin" valueType="num">
                                      <p:cBhvr additive="base">
                                        <p:cTn id="32" dur="500" fill="hold"/>
                                        <p:tgtEl>
                                          <p:spTgt spid="32"/>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8EF"/>
        </a:solidFill>
        <a:effectLst/>
      </p:bgPr>
    </p:bg>
    <p:spTree>
      <p:nvGrpSpPr>
        <p:cNvPr id="1" name=""/>
        <p:cNvGrpSpPr/>
        <p:nvPr/>
      </p:nvGrpSpPr>
      <p:grpSpPr/>
      <p:sp>
        <p:nvSpPr>
          <p:cNvPr id="2" name="!!b1"/>
          <p:cNvSpPr/>
          <p:nvPr/>
        </p:nvSpPr>
        <p:spPr>
          <a:xfrm>
            <a:off x="10972800" y="-1005840"/>
            <a:ext cx="2377440" cy="2377440"/>
          </a:xfrm>
          <a:prstGeom prst="ellipse">
            <a:avLst/>
          </a:prstGeom>
          <a:solidFill>
            <a:srgbClr val="E8475A">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b2"/>
          <p:cNvSpPr/>
          <p:nvPr/>
        </p:nvSpPr>
        <p:spPr>
          <a:xfrm>
            <a:off x="11521440" y="4480560"/>
            <a:ext cx="1280160" cy="1280160"/>
          </a:xfrm>
          <a:prstGeom prst="ellipse">
            <a:avLst/>
          </a:prstGeom>
          <a:solidFill>
            <a:srgbClr val="FFC247">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3"/>
          <p:cNvSpPr/>
          <p:nvPr/>
        </p:nvSpPr>
        <p:spPr>
          <a:xfrm>
            <a:off x="-457200" y="6309360"/>
            <a:ext cx="914400" cy="914400"/>
          </a:xfrm>
          <a:prstGeom prst="ellipse">
            <a:avLst/>
          </a:prstGeom>
          <a:solidFill>
            <a:srgbClr val="3B5BDB">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rogress"/>
          <p:cNvSpPr/>
          <p:nvPr/>
        </p:nvSpPr>
        <p:spPr>
          <a:xfrm>
            <a:off x="0" y="6748272"/>
            <a:ext cx="10450024" cy="109728"/>
          </a:xfrm>
          <a:prstGeom prst="rect">
            <a:avLst/>
          </a:prstGeom>
          <a:solidFill>
            <a:srgbClr val="E84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ot"/>
          <p:cNvSpPr/>
          <p:nvPr/>
        </p:nvSpPr>
        <p:spPr>
          <a:xfrm>
            <a:off x="640080" y="566928"/>
            <a:ext cx="310896" cy="310896"/>
          </a:xfrm>
          <a:prstGeom prst="ellipse">
            <a:avLst/>
          </a:prstGeom>
          <a:solidFill>
            <a:srgbClr val="FFC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365760"/>
            <a:ext cx="10424160" cy="731520"/>
          </a:xfrm>
          <a:prstGeom prst="rect">
            <a:avLst/>
          </a:prstGeom>
          <a:noFill/>
        </p:spPr>
        <p:txBody>
          <a:bodyPr wrap="square" lIns="0" rIns="0" tIns="0" bIns="0" anchor="ctr">
            <a:spAutoFit/>
          </a:bodyPr>
          <a:lstStyle/>
          <a:p>
            <a:pPr algn="l"/>
            <a:r>
              <a:rPr sz="3800" b="1">
                <a:solidFill>
                  <a:srgbClr val="1E1740"/>
                </a:solidFill>
                <a:latin typeface="Calibri"/>
              </a:rPr>
              <a:t>Impact: who gains from this?</a:t>
            </a:r>
          </a:p>
        </p:txBody>
      </p:sp>
      <p:grpSp>
        <p:nvGrpSpPr>
          <p:cNvPr id="8" name="Group 7"/>
          <p:cNvGrpSpPr/>
          <p:nvPr/>
        </p:nvGrpSpPr>
        <p:grpSpPr>
          <a:xfrm>
            <a:off x="632307" y="1463040"/>
            <a:ext cx="10927080" cy="1280160"/>
            <a:chOff x="632307" y="1463040"/>
            <a:chExt cx="10927080" cy="1280160"/>
          </a:xfrm>
        </p:grpSpPr>
        <p:sp>
          <p:nvSpPr>
            <p:cNvPr id="9" name="Rounded Rectangle 8"/>
            <p:cNvSpPr/>
            <p:nvPr/>
          </p:nvSpPr>
          <p:spPr>
            <a:xfrm>
              <a:off x="632307" y="1463040"/>
              <a:ext cx="10927080" cy="1280160"/>
            </a:xfrm>
            <a:prstGeom prst="roundRect">
              <a:avLst>
                <a:gd name="adj" fmla="val 15000"/>
              </a:avLst>
            </a:prstGeom>
            <a:gradFill rotWithShape="1">
              <a:gsLst>
                <a:gs pos="0">
                  <a:srgbClr val="2D1E5F"/>
                </a:gs>
                <a:gs pos="100000">
                  <a:srgbClr val="4B3591"/>
                </a:gs>
              </a:gsLst>
              <a:lin scaled="0" ang="0"/>
            </a:gradFill>
            <a:ln>
              <a:noFill/>
            </a:ln>
            <a:effectLst>
              <a:outerShdw blurRad="177800" dist="63500" dir="5400000" algn="t" rotWithShape="0">
                <a:srgbClr val="2D1E5F">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2347" y="1463040"/>
              <a:ext cx="2377440" cy="1280160"/>
            </a:xfrm>
            <a:prstGeom prst="rect">
              <a:avLst/>
            </a:prstGeom>
            <a:noFill/>
          </p:spPr>
          <p:txBody>
            <a:bodyPr wrap="square" lIns="0" rIns="0" tIns="0" bIns="0" anchor="ctr">
              <a:spAutoFit/>
            </a:bodyPr>
            <a:lstStyle/>
            <a:p>
              <a:pPr algn="l"/>
              <a:r>
                <a:rPr sz="3800" b="1">
                  <a:solidFill>
                    <a:srgbClr val="FFFFFF"/>
                  </a:solidFill>
                  <a:latin typeface="Calibri"/>
                </a:rPr>
                <a:t>5.24 bn</a:t>
              </a:r>
            </a:p>
          </p:txBody>
        </p:sp>
        <p:sp>
          <p:nvSpPr>
            <p:cNvPr id="11" name="TextBox 10"/>
            <p:cNvSpPr txBox="1"/>
            <p:nvPr/>
          </p:nvSpPr>
          <p:spPr>
            <a:xfrm>
              <a:off x="3375507" y="1572768"/>
              <a:ext cx="7909559" cy="777240"/>
            </a:xfrm>
            <a:prstGeom prst="rect">
              <a:avLst/>
            </a:prstGeom>
            <a:noFill/>
          </p:spPr>
          <p:txBody>
            <a:bodyPr wrap="square" lIns="0" rIns="0" tIns="0" bIns="0" anchor="ctr">
              <a:spAutoFit/>
            </a:bodyPr>
            <a:lstStyle/>
            <a:p>
              <a:pPr algn="l"/>
              <a:r>
                <a:rPr sz="2000" b="1">
                  <a:solidFill>
                    <a:srgbClr val="FFFFFF"/>
                  </a:solidFill>
                  <a:latin typeface="Calibri"/>
                </a:rPr>
                <a:t>social media accounts:</a:t>
              </a:r>
            </a:p>
            <a:p>
              <a:pPr algn="l"/>
              <a:r>
                <a:rPr sz="2000" b="1">
                  <a:solidFill>
                    <a:srgbClr val="FFFFFF"/>
                  </a:solidFill>
                  <a:latin typeface="Calibri"/>
                </a:rPr>
                <a:t>their posts could be measured more honestly</a:t>
              </a:r>
            </a:p>
          </p:txBody>
        </p:sp>
        <p:sp>
          <p:nvSpPr>
            <p:cNvPr id="12" name="TextBox 11"/>
            <p:cNvSpPr txBox="1"/>
            <p:nvPr/>
          </p:nvSpPr>
          <p:spPr>
            <a:xfrm>
              <a:off x="3375507" y="2377440"/>
              <a:ext cx="7909559" cy="320040"/>
            </a:xfrm>
            <a:prstGeom prst="rect">
              <a:avLst/>
            </a:prstGeom>
            <a:noFill/>
          </p:spPr>
          <p:txBody>
            <a:bodyPr wrap="square" lIns="0" rIns="0" tIns="0" bIns="0" anchor="t">
              <a:spAutoFit/>
            </a:bodyPr>
            <a:lstStyle/>
            <a:p>
              <a:pPr algn="l"/>
              <a:r>
                <a:rPr sz="1400" b="0">
                  <a:solidFill>
                    <a:srgbClr val="E8E2F5"/>
                  </a:solidFill>
                  <a:latin typeface="Calibri"/>
                </a:rPr>
                <a:t>DataReportal / Kepios, 2025</a:t>
              </a:r>
            </a:p>
          </p:txBody>
        </p:sp>
      </p:grpSp>
      <p:grpSp>
        <p:nvGrpSpPr>
          <p:cNvPr id="13" name="Group 12"/>
          <p:cNvGrpSpPr/>
          <p:nvPr/>
        </p:nvGrpSpPr>
        <p:grpSpPr>
          <a:xfrm>
            <a:off x="1798167" y="2926080"/>
            <a:ext cx="8595360" cy="1280160"/>
            <a:chOff x="1798167" y="2926080"/>
            <a:chExt cx="8595360" cy="1280160"/>
          </a:xfrm>
        </p:grpSpPr>
        <p:sp>
          <p:nvSpPr>
            <p:cNvPr id="14" name="Rounded Rectangle 13"/>
            <p:cNvSpPr/>
            <p:nvPr/>
          </p:nvSpPr>
          <p:spPr>
            <a:xfrm>
              <a:off x="1798167" y="2926080"/>
              <a:ext cx="8595360" cy="1280160"/>
            </a:xfrm>
            <a:prstGeom prst="roundRect">
              <a:avLst>
                <a:gd name="adj" fmla="val 15000"/>
              </a:avLst>
            </a:prstGeom>
            <a:gradFill rotWithShape="1">
              <a:gsLst>
                <a:gs pos="0">
                  <a:srgbClr val="3B5BDB"/>
                </a:gs>
                <a:gs pos="100000">
                  <a:srgbClr val="627CE2"/>
                </a:gs>
              </a:gsLst>
              <a:lin scaled="0" ang="0"/>
            </a:gradFill>
            <a:ln>
              <a:noFill/>
            </a:ln>
            <a:effectLst>
              <a:outerShdw blurRad="177800" dist="63500" dir="5400000" algn="t" rotWithShape="0">
                <a:srgbClr val="3B5BDB">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18207" y="2926080"/>
              <a:ext cx="2377440" cy="1280160"/>
            </a:xfrm>
            <a:prstGeom prst="rect">
              <a:avLst/>
            </a:prstGeom>
            <a:noFill/>
          </p:spPr>
          <p:txBody>
            <a:bodyPr wrap="square" lIns="0" rIns="0" tIns="0" bIns="0" anchor="ctr">
              <a:spAutoFit/>
            </a:bodyPr>
            <a:lstStyle/>
            <a:p>
              <a:pPr algn="l"/>
              <a:r>
                <a:rPr sz="3800" b="1">
                  <a:solidFill>
                    <a:srgbClr val="FFFFFF"/>
                  </a:solidFill>
                  <a:latin typeface="Calibri"/>
                </a:rPr>
                <a:t>2,400+</a:t>
              </a:r>
            </a:p>
          </p:txBody>
        </p:sp>
        <p:sp>
          <p:nvSpPr>
            <p:cNvPr id="16" name="TextBox 15"/>
            <p:cNvSpPr txBox="1"/>
            <p:nvPr/>
          </p:nvSpPr>
          <p:spPr>
            <a:xfrm>
              <a:off x="4541367" y="3035808"/>
              <a:ext cx="5577840" cy="777240"/>
            </a:xfrm>
            <a:prstGeom prst="rect">
              <a:avLst/>
            </a:prstGeom>
            <a:noFill/>
          </p:spPr>
          <p:txBody>
            <a:bodyPr wrap="square" lIns="0" rIns="0" tIns="0" bIns="0" anchor="ctr">
              <a:spAutoFit/>
            </a:bodyPr>
            <a:lstStyle/>
            <a:p>
              <a:pPr algn="l"/>
              <a:r>
                <a:rPr sz="2000" b="1">
                  <a:solidFill>
                    <a:srgbClr val="FFFFFF"/>
                  </a:solidFill>
                  <a:latin typeface="Calibri"/>
                </a:rPr>
                <a:t>companies use Brand24</a:t>
              </a:r>
            </a:p>
          </p:txBody>
        </p:sp>
        <p:sp>
          <p:nvSpPr>
            <p:cNvPr id="17" name="TextBox 16"/>
            <p:cNvSpPr txBox="1"/>
            <p:nvPr/>
          </p:nvSpPr>
          <p:spPr>
            <a:xfrm>
              <a:off x="4541367" y="3840480"/>
              <a:ext cx="5577840" cy="320040"/>
            </a:xfrm>
            <a:prstGeom prst="rect">
              <a:avLst/>
            </a:prstGeom>
            <a:noFill/>
          </p:spPr>
          <p:txBody>
            <a:bodyPr wrap="square" lIns="0" rIns="0" tIns="0" bIns="0" anchor="t">
              <a:spAutoFit/>
            </a:bodyPr>
            <a:lstStyle/>
            <a:p>
              <a:pPr algn="l"/>
              <a:r>
                <a:rPr sz="1400" b="0">
                  <a:solidFill>
                    <a:srgbClr val="E8E2F5"/>
                  </a:solidFill>
                  <a:latin typeface="Calibri"/>
                </a:rPr>
                <a:t>figure reported by Brand24</a:t>
              </a:r>
            </a:p>
          </p:txBody>
        </p:sp>
      </p:grpSp>
      <p:grpSp>
        <p:nvGrpSpPr>
          <p:cNvPr id="18" name="Group 17"/>
          <p:cNvGrpSpPr/>
          <p:nvPr/>
        </p:nvGrpSpPr>
        <p:grpSpPr>
          <a:xfrm>
            <a:off x="2941167" y="4389120"/>
            <a:ext cx="6309360" cy="1280160"/>
            <a:chOff x="2941167" y="4389120"/>
            <a:chExt cx="6309360" cy="1280160"/>
          </a:xfrm>
        </p:grpSpPr>
        <p:sp>
          <p:nvSpPr>
            <p:cNvPr id="19" name="Rounded Rectangle 18"/>
            <p:cNvSpPr/>
            <p:nvPr/>
          </p:nvSpPr>
          <p:spPr>
            <a:xfrm>
              <a:off x="2941167" y="4389120"/>
              <a:ext cx="6309360" cy="1280160"/>
            </a:xfrm>
            <a:prstGeom prst="roundRect">
              <a:avLst>
                <a:gd name="adj" fmla="val 15000"/>
              </a:avLst>
            </a:prstGeom>
            <a:gradFill rotWithShape="1">
              <a:gsLst>
                <a:gs pos="0">
                  <a:srgbClr val="E8475A"/>
                </a:gs>
                <a:gs pos="100000">
                  <a:srgbClr val="ED6C7B"/>
                </a:gs>
              </a:gsLst>
              <a:lin scaled="0" ang="0"/>
            </a:gradFill>
            <a:ln>
              <a:noFill/>
            </a:ln>
            <a:effectLst>
              <a:outerShdw blurRad="177800" dist="63500" dir="5400000" algn="t" rotWithShape="0">
                <a:srgbClr val="E8475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61207" y="4389120"/>
              <a:ext cx="2377440" cy="1280160"/>
            </a:xfrm>
            <a:prstGeom prst="rect">
              <a:avLst/>
            </a:prstGeom>
            <a:noFill/>
          </p:spPr>
          <p:txBody>
            <a:bodyPr wrap="square" lIns="0" rIns="0" tIns="0" bIns="0" anchor="ctr">
              <a:spAutoFit/>
            </a:bodyPr>
            <a:lstStyle/>
            <a:p>
              <a:pPr algn="l"/>
              <a:r>
                <a:rPr sz="3800" b="1">
                  <a:solidFill>
                    <a:srgbClr val="FFFFFF"/>
                  </a:solidFill>
                  <a:latin typeface="Calibri"/>
                </a:rPr>
                <a:t>~12,000</a:t>
              </a:r>
            </a:p>
          </p:txBody>
        </p:sp>
        <p:sp>
          <p:nvSpPr>
            <p:cNvPr id="21" name="TextBox 20"/>
            <p:cNvSpPr txBox="1"/>
            <p:nvPr/>
          </p:nvSpPr>
          <p:spPr>
            <a:xfrm>
              <a:off x="5684367" y="4498848"/>
              <a:ext cx="3291840" cy="777240"/>
            </a:xfrm>
            <a:prstGeom prst="rect">
              <a:avLst/>
            </a:prstGeom>
            <a:noFill/>
          </p:spPr>
          <p:txBody>
            <a:bodyPr wrap="square" lIns="0" rIns="0" tIns="0" bIns="0" anchor="ctr">
              <a:spAutoFit/>
            </a:bodyPr>
            <a:lstStyle/>
            <a:p>
              <a:pPr algn="l"/>
              <a:r>
                <a:rPr sz="2000" b="1">
                  <a:solidFill>
                    <a:srgbClr val="FFFFFF"/>
                  </a:solidFill>
                  <a:latin typeface="Calibri"/>
                </a:rPr>
                <a:t>people read their reports</a:t>
              </a:r>
            </a:p>
          </p:txBody>
        </p:sp>
        <p:sp>
          <p:nvSpPr>
            <p:cNvPr id="22" name="TextBox 21"/>
            <p:cNvSpPr txBox="1"/>
            <p:nvPr/>
          </p:nvSpPr>
          <p:spPr>
            <a:xfrm>
              <a:off x="5684367" y="5303520"/>
              <a:ext cx="3291840" cy="320040"/>
            </a:xfrm>
            <a:prstGeom prst="rect">
              <a:avLst/>
            </a:prstGeom>
            <a:noFill/>
          </p:spPr>
          <p:txBody>
            <a:bodyPr wrap="square" lIns="0" rIns="0" tIns="0" bIns="0" anchor="t">
              <a:spAutoFit/>
            </a:bodyPr>
            <a:lstStyle/>
            <a:p>
              <a:pPr algn="l"/>
              <a:r>
                <a:rPr sz="1400" b="0">
                  <a:solidFill>
                    <a:srgbClr val="E8E2F5"/>
                  </a:solidFill>
                  <a:latin typeface="Calibri"/>
                </a:rPr>
                <a:t>assumption: about 5 people per company</a:t>
              </a:r>
            </a:p>
          </p:txBody>
        </p:sp>
      </p:grpSp>
      <p:sp>
        <p:nvSpPr>
          <p:cNvPr id="23" name="TextBox 22"/>
          <p:cNvSpPr txBox="1"/>
          <p:nvPr/>
        </p:nvSpPr>
        <p:spPr>
          <a:xfrm>
            <a:off x="640080" y="5989320"/>
            <a:ext cx="10927080" cy="365760"/>
          </a:xfrm>
          <a:prstGeom prst="rect">
            <a:avLst/>
          </a:prstGeom>
          <a:noFill/>
        </p:spPr>
        <p:txBody>
          <a:bodyPr wrap="square" lIns="0" rIns="0" tIns="0" bIns="0" anchor="t">
            <a:spAutoFit/>
          </a:bodyPr>
          <a:lstStyle/>
          <a:p>
            <a:pPr algn="ctr"/>
            <a:r>
              <a:rPr sz="1800" b="1">
                <a:solidFill>
                  <a:srgbClr val="5E5878"/>
                </a:solidFill>
                <a:latin typeface="Calibri"/>
              </a:rPr>
              <a:t>A playful estimate: orders of magnitude, not a measurement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9" fill="hold">
                      <p:stCondLst>
                        <p:cond delay="indefinite"/>
                        <p:cond evt="onBegin" delay="0">
                          <p:tn val="2"/>
                        </p:cond>
                      </p:stCondLst>
                      <p:childTnLst>
                        <p:par>
                          <p:cTn id="3" fill="hold">
                            <p:stCondLst>
                              <p:cond delay="0"/>
                            </p:stCondLst>
                            <p:childTnLst>
                              <p:par>
                                <p:cTn id="4" presetID="42" presetClass="entr" presetSubtype="0" fill="hold" nodeType="afterEffect">
                                  <p:stCondLst>
                                    <p:cond delay="0"/>
                                  </p:stCondLst>
                                  <p:childTnLst>
                                    <p:set>
                                      <p:cBhvr>
                                        <p:cTn id="5" dur="1" fill="hold">
                                          <p:stCondLst>
                                            <p:cond delay="0"/>
                                          </p:stCondLst>
                                        </p:cTn>
                                        <p:tgtEl>
                                          <p:spTgt spid="8"/>
                                        </p:tgtEl>
                                        <p:attrNameLst>
                                          <p:attrName>style.visibility</p:attrName>
                                        </p:attrNameLst>
                                      </p:cBhvr>
                                      <p:to>
                                        <p:strVal val="visible"/>
                                      </p:to>
                                    </p:set>
                                    <p:animEffect transition="in" filter="fade">
                                      <p:cBhvr>
                                        <p:cTn id="6" dur="500"/>
                                        <p:tgtEl>
                                          <p:spTgt spid="8"/>
                                        </p:tgtEl>
                                      </p:cBhvr>
                                    </p:animEffec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ppt_y+.08"/>
                                          </p:val>
                                        </p:tav>
                                        <p:tav tm="100000">
                                          <p:val>
                                            <p:strVal val="#ppt_y"/>
                                          </p:val>
                                        </p:tav>
                                      </p:tavLst>
                                    </p:anim>
                                  </p:childTnLst>
                                </p:cTn>
                              </p:par>
                            </p:childTnLst>
                          </p:cTn>
                        </p:par>
                        <p:par>
                          <p:cTn id="9" fill="hold">
                            <p:stCondLst>
                              <p:cond delay="620"/>
                            </p:stCondLst>
                            <p:childTnLst>
                              <p:par>
                                <p:cTn id="10" presetID="42" presetClass="entr" presetSubtype="0" fill="hold" nodeType="after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ppt_y+.08"/>
                                          </p:val>
                                        </p:tav>
                                        <p:tav tm="100000">
                                          <p:val>
                                            <p:strVal val="#ppt_y"/>
                                          </p:val>
                                        </p:tav>
                                      </p:tavLst>
                                    </p:anim>
                                  </p:childTnLst>
                                </p:cTn>
                              </p:par>
                            </p:childTnLst>
                          </p:cTn>
                        </p:par>
                        <p:par>
                          <p:cTn id="15" fill="hold">
                            <p:stCondLst>
                              <p:cond delay="1240"/>
                            </p:stCondLst>
                            <p:childTnLst>
                              <p:par>
                                <p:cTn id="16" presetID="42" presetClass="entr" presetSubtype="0" fill="hold" nodeType="after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500"/>
                                        <p:tgtEl>
                                          <p:spTgt spid="18"/>
                                        </p:tgtEl>
                                      </p:cBhvr>
                                    </p:animEffect>
                                    <p:anim calcmode="lin" valueType="num">
                                      <p:cBhvr additive="base">
                                        <p:cTn id="19" dur="500" fill="hold"/>
                                        <p:tgtEl>
                                          <p:spTgt spid="18"/>
                                        </p:tgtEl>
                                        <p:attrNameLst>
                                          <p:attrName>ppt_x</p:attrName>
                                        </p:attrNameLst>
                                      </p:cBhvr>
                                      <p:tavLst>
                                        <p:tav tm="0">
                                          <p:val>
                                            <p:strVal val="#ppt_x"/>
                                          </p:val>
                                        </p:tav>
                                        <p:tav tm="100000">
                                          <p:val>
                                            <p:strVal val="#ppt_x"/>
                                          </p:val>
                                        </p:tav>
                                      </p:tavLst>
                                    </p:anim>
                                    <p:anim calcmode="lin" valueType="num">
                                      <p:cBhvr additive="base">
                                        <p:cTn id="20" dur="500" fill="hold"/>
                                        <p:tgtEl>
                                          <p:spTgt spid="18"/>
                                        </p:tgtEl>
                                        <p:attrNameLst>
                                          <p:attrName>ppt_y</p:attrName>
                                        </p:attrNameLst>
                                      </p:cBhvr>
                                      <p:tavLst>
                                        <p:tav tm="0">
                                          <p:val>
                                            <p:strVal val="#ppt_y+.08"/>
                                          </p:val>
                                        </p:tav>
                                        <p:tav tm="100000">
                                          <p:val>
                                            <p:strVal val="#ppt_y"/>
                                          </p:val>
                                        </p:tav>
                                      </p:tavLst>
                                    </p:anim>
                                  </p:childTnLst>
                                </p:cTn>
                              </p:par>
                            </p:childTnLst>
                          </p:cTn>
                        </p:par>
                        <p:par>
                          <p:cTn id="21" fill="hold">
                            <p:stCondLst>
                              <p:cond delay="1860"/>
                            </p:stCondLst>
                            <p:childTnLst>
                              <p:par>
                                <p:cTn id="22" presetID="42" presetClass="entr" presetSubtype="0" fill="hold" nodeType="after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500"/>
                                        <p:tgtEl>
                                          <p:spTgt spid="23"/>
                                        </p:tgtEl>
                                      </p:cBhvr>
                                    </p:animEffect>
                                    <p:anim calcmode="lin" valueType="num">
                                      <p:cBhvr additive="base">
                                        <p:cTn id="25" dur="500" fill="hold"/>
                                        <p:tgtEl>
                                          <p:spTgt spid="23"/>
                                        </p:tgtEl>
                                        <p:attrNameLst>
                                          <p:attrName>ppt_x</p:attrName>
                                        </p:attrNameLst>
                                      </p:cBhvr>
                                      <p:tavLst>
                                        <p:tav tm="0">
                                          <p:val>
                                            <p:strVal val="#ppt_x"/>
                                          </p:val>
                                        </p:tav>
                                        <p:tav tm="100000">
                                          <p:val>
                                            <p:strVal val="#ppt_x"/>
                                          </p:val>
                                        </p:tav>
                                      </p:tavLst>
                                    </p:anim>
                                    <p:anim calcmode="lin" valueType="num">
                                      <p:cBhvr additive="base">
                                        <p:cTn id="26" dur="500" fill="hold"/>
                                        <p:tgtEl>
                                          <p:spTgt spid="2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8EF"/>
        </a:solidFill>
        <a:effectLst/>
      </p:bgPr>
    </p:bg>
    <p:spTree>
      <p:nvGrpSpPr>
        <p:cNvPr id="1" name=""/>
        <p:cNvGrpSpPr/>
        <p:nvPr/>
      </p:nvGrpSpPr>
      <p:grpSpPr/>
      <p:sp>
        <p:nvSpPr>
          <p:cNvPr id="2" name="!!b1"/>
          <p:cNvSpPr/>
          <p:nvPr/>
        </p:nvSpPr>
        <p:spPr>
          <a:xfrm>
            <a:off x="9692640" y="-1280160"/>
            <a:ext cx="3108960" cy="3108960"/>
          </a:xfrm>
          <a:prstGeom prst="ellipse">
            <a:avLst/>
          </a:prstGeom>
          <a:solidFill>
            <a:srgbClr val="E8475A">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b2"/>
          <p:cNvSpPr/>
          <p:nvPr/>
        </p:nvSpPr>
        <p:spPr>
          <a:xfrm>
            <a:off x="11247120" y="5760720"/>
            <a:ext cx="1645920" cy="1645920"/>
          </a:xfrm>
          <a:prstGeom prst="ellipse">
            <a:avLst/>
          </a:prstGeom>
          <a:solidFill>
            <a:srgbClr val="FFC247">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3"/>
          <p:cNvSpPr/>
          <p:nvPr/>
        </p:nvSpPr>
        <p:spPr>
          <a:xfrm>
            <a:off x="-365760" y="6309360"/>
            <a:ext cx="914400" cy="914400"/>
          </a:xfrm>
          <a:prstGeom prst="ellipse">
            <a:avLst/>
          </a:prstGeom>
          <a:solidFill>
            <a:srgbClr val="3B5BDB">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rogress"/>
          <p:cNvSpPr/>
          <p:nvPr/>
        </p:nvSpPr>
        <p:spPr>
          <a:xfrm>
            <a:off x="0" y="6748272"/>
            <a:ext cx="12191695" cy="109728"/>
          </a:xfrm>
          <a:prstGeom prst="rect">
            <a:avLst/>
          </a:prstGeom>
          <a:solidFill>
            <a:srgbClr val="E847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ot"/>
          <p:cNvSpPr/>
          <p:nvPr/>
        </p:nvSpPr>
        <p:spPr>
          <a:xfrm>
            <a:off x="640080" y="566928"/>
            <a:ext cx="310896" cy="310896"/>
          </a:xfrm>
          <a:prstGeom prst="ellipse">
            <a:avLst/>
          </a:prstGeom>
          <a:solidFill>
            <a:srgbClr val="1FB5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365760"/>
            <a:ext cx="10424160" cy="731520"/>
          </a:xfrm>
          <a:prstGeom prst="rect">
            <a:avLst/>
          </a:prstGeom>
          <a:noFill/>
        </p:spPr>
        <p:txBody>
          <a:bodyPr wrap="square" lIns="0" rIns="0" tIns="0" bIns="0" anchor="ctr">
            <a:spAutoFit/>
          </a:bodyPr>
          <a:lstStyle/>
          <a:p>
            <a:pPr algn="l"/>
            <a:r>
              <a:rPr sz="3800" b="1">
                <a:solidFill>
                  <a:srgbClr val="1E1740"/>
                </a:solidFill>
                <a:latin typeface="Calibri"/>
              </a:rPr>
              <a:t>Why will we succeed?</a:t>
            </a:r>
          </a:p>
        </p:txBody>
      </p:sp>
      <p:grpSp>
        <p:nvGrpSpPr>
          <p:cNvPr id="8" name="Group 7"/>
          <p:cNvGrpSpPr/>
          <p:nvPr/>
        </p:nvGrpSpPr>
        <p:grpSpPr>
          <a:xfrm>
            <a:off x="640080" y="1463040"/>
            <a:ext cx="5349240" cy="4800600"/>
            <a:chOff x="640080" y="1463040"/>
            <a:chExt cx="5349240" cy="4800600"/>
          </a:xfrm>
        </p:grpSpPr>
        <p:sp>
          <p:nvSpPr>
            <p:cNvPr id="9" name="Rounded Rectangle 8"/>
            <p:cNvSpPr/>
            <p:nvPr/>
          </p:nvSpPr>
          <p:spPr>
            <a:xfrm>
              <a:off x="640080" y="1463040"/>
              <a:ext cx="5349240" cy="4800600"/>
            </a:xfrm>
            <a:prstGeom prst="roundRect">
              <a:avLst>
                <a:gd name="adj" fmla="val 7000"/>
              </a:avLst>
            </a:prstGeom>
            <a:solidFill>
              <a:srgbClr val="FFFFFF"/>
            </a:solidFill>
            <a:ln w="31750">
              <a:solidFill>
                <a:srgbClr val="1FB59A"/>
              </a:solidFill>
            </a:ln>
            <a:effectLst>
              <a:outerShdw blurRad="203200" dist="63500" dir="5400000" algn="t" rotWithShape="0">
                <a:srgbClr val="2D1E5F">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1645920"/>
              <a:ext cx="4754880" cy="411480"/>
            </a:xfrm>
            <a:prstGeom prst="rect">
              <a:avLst/>
            </a:prstGeom>
            <a:noFill/>
          </p:spPr>
          <p:txBody>
            <a:bodyPr wrap="square" lIns="0" rIns="0" tIns="0" bIns="0" anchor="t">
              <a:spAutoFit/>
            </a:bodyPr>
            <a:lstStyle/>
            <a:p>
              <a:pPr algn="l"/>
              <a:r>
                <a:rPr sz="2200" b="1">
                  <a:solidFill>
                    <a:srgbClr val="1FB59A"/>
                  </a:solidFill>
                  <a:latin typeface="Calibri"/>
                </a:rPr>
                <a:t>FEASIBILITY</a:t>
              </a:r>
            </a:p>
          </p:txBody>
        </p:sp>
        <p:sp>
          <p:nvSpPr>
            <p:cNvPr id="11" name="Oval 10"/>
            <p:cNvSpPr/>
            <p:nvPr/>
          </p:nvSpPr>
          <p:spPr>
            <a:xfrm>
              <a:off x="960120" y="2350008"/>
              <a:ext cx="274320" cy="274320"/>
            </a:xfrm>
            <a:prstGeom prst="ellipse">
              <a:avLst/>
            </a:prstGeom>
            <a:solidFill>
              <a:srgbClr val="1FB5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17320" y="2240280"/>
              <a:ext cx="4389120" cy="548640"/>
            </a:xfrm>
            <a:prstGeom prst="rect">
              <a:avLst/>
            </a:prstGeom>
            <a:noFill/>
          </p:spPr>
          <p:txBody>
            <a:bodyPr wrap="square" lIns="0" rIns="0" tIns="0" bIns="0" anchor="ctr">
              <a:spAutoFit/>
            </a:bodyPr>
            <a:lstStyle/>
            <a:p>
              <a:pPr algn="l"/>
              <a:r>
                <a:rPr sz="2000" b="0">
                  <a:solidFill>
                    <a:srgbClr val="1E1740"/>
                  </a:solidFill>
                  <a:latin typeface="Calibri"/>
                </a:rPr>
                <a:t>Legal data from the client: Brand24</a:t>
              </a:r>
            </a:p>
          </p:txBody>
        </p:sp>
        <p:sp>
          <p:nvSpPr>
            <p:cNvPr id="13" name="Oval 12"/>
            <p:cNvSpPr/>
            <p:nvPr/>
          </p:nvSpPr>
          <p:spPr>
            <a:xfrm>
              <a:off x="960120" y="3127248"/>
              <a:ext cx="274320" cy="274320"/>
            </a:xfrm>
            <a:prstGeom prst="ellipse">
              <a:avLst/>
            </a:prstGeom>
            <a:solidFill>
              <a:srgbClr val="1FB5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17320" y="3017520"/>
              <a:ext cx="4389120" cy="548640"/>
            </a:xfrm>
            <a:prstGeom prst="rect">
              <a:avLst/>
            </a:prstGeom>
            <a:noFill/>
          </p:spPr>
          <p:txBody>
            <a:bodyPr wrap="square" lIns="0" rIns="0" tIns="0" bIns="0" anchor="ctr">
              <a:spAutoFit/>
            </a:bodyPr>
            <a:lstStyle/>
            <a:p>
              <a:pPr algn="l"/>
              <a:r>
                <a:rPr sz="2000" b="0">
                  <a:solidFill>
                    <a:srgbClr val="1E1740"/>
                  </a:solidFill>
                  <a:latin typeface="Calibri"/>
                </a:rPr>
                <a:t>12,500 public mentions, 5 platforms</a:t>
              </a:r>
            </a:p>
          </p:txBody>
        </p:sp>
        <p:sp>
          <p:nvSpPr>
            <p:cNvPr id="15" name="Oval 14"/>
            <p:cNvSpPr/>
            <p:nvPr/>
          </p:nvSpPr>
          <p:spPr>
            <a:xfrm>
              <a:off x="960120" y="3904488"/>
              <a:ext cx="274320" cy="274320"/>
            </a:xfrm>
            <a:prstGeom prst="ellipse">
              <a:avLst/>
            </a:prstGeom>
            <a:solidFill>
              <a:srgbClr val="1FB5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3794760"/>
              <a:ext cx="4389120" cy="548640"/>
            </a:xfrm>
            <a:prstGeom prst="rect">
              <a:avLst/>
            </a:prstGeom>
            <a:noFill/>
          </p:spPr>
          <p:txBody>
            <a:bodyPr wrap="square" lIns="0" rIns="0" tIns="0" bIns="0" anchor="ctr">
              <a:spAutoFit/>
            </a:bodyPr>
            <a:lstStyle/>
            <a:p>
              <a:pPr algn="l"/>
              <a:r>
                <a:rPr sz="2000" b="0">
                  <a:solidFill>
                    <a:srgbClr val="1E1740"/>
                  </a:solidFill>
                  <a:latin typeface="Calibri"/>
                </a:rPr>
                <a:t>Ground truth: TikTok and YouTube</a:t>
              </a:r>
            </a:p>
          </p:txBody>
        </p:sp>
        <p:sp>
          <p:nvSpPr>
            <p:cNvPr id="17" name="Oval 16"/>
            <p:cNvSpPr/>
            <p:nvPr/>
          </p:nvSpPr>
          <p:spPr>
            <a:xfrm>
              <a:off x="960120" y="4681728"/>
              <a:ext cx="274320" cy="274320"/>
            </a:xfrm>
            <a:prstGeom prst="ellipse">
              <a:avLst/>
            </a:prstGeom>
            <a:solidFill>
              <a:srgbClr val="1FB5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17320" y="4572000"/>
              <a:ext cx="4389120" cy="548640"/>
            </a:xfrm>
            <a:prstGeom prst="rect">
              <a:avLst/>
            </a:prstGeom>
            <a:noFill/>
          </p:spPr>
          <p:txBody>
            <a:bodyPr wrap="square" lIns="0" rIns="0" tIns="0" bIns="0" anchor="ctr">
              <a:spAutoFit/>
            </a:bodyPr>
            <a:lstStyle/>
            <a:p>
              <a:pPr algn="l"/>
              <a:r>
                <a:rPr sz="2000" b="0">
                  <a:solidFill>
                    <a:srgbClr val="1E1740"/>
                  </a:solidFill>
                  <a:latin typeface="Calibri"/>
                </a:rPr>
                <a:t>No personal data of authors (GDPR)</a:t>
              </a:r>
            </a:p>
          </p:txBody>
        </p:sp>
        <p:sp>
          <p:nvSpPr>
            <p:cNvPr id="19" name="Oval 18"/>
            <p:cNvSpPr/>
            <p:nvPr/>
          </p:nvSpPr>
          <p:spPr>
            <a:xfrm>
              <a:off x="960120" y="5458968"/>
              <a:ext cx="274320" cy="274320"/>
            </a:xfrm>
            <a:prstGeom prst="ellipse">
              <a:avLst/>
            </a:prstGeom>
            <a:solidFill>
              <a:srgbClr val="1FB5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17320" y="5349240"/>
              <a:ext cx="4389120" cy="548640"/>
            </a:xfrm>
            <a:prstGeom prst="rect">
              <a:avLst/>
            </a:prstGeom>
            <a:noFill/>
          </p:spPr>
          <p:txBody>
            <a:bodyPr wrap="square" lIns="0" rIns="0" tIns="0" bIns="0" anchor="ctr">
              <a:spAutoFit/>
            </a:bodyPr>
            <a:lstStyle/>
            <a:p>
              <a:pPr algn="l"/>
              <a:r>
                <a:rPr sz="2000" b="0">
                  <a:solidFill>
                    <a:srgbClr val="1E1740"/>
                  </a:solidFill>
                  <a:latin typeface="Calibri"/>
                </a:rPr>
                <a:t>Preliminary exploration test: promising</a:t>
              </a:r>
            </a:p>
          </p:txBody>
        </p:sp>
      </p:grpSp>
      <p:grpSp>
        <p:nvGrpSpPr>
          <p:cNvPr id="21" name="Group 20"/>
          <p:cNvGrpSpPr/>
          <p:nvPr/>
        </p:nvGrpSpPr>
        <p:grpSpPr>
          <a:xfrm>
            <a:off x="6217920" y="1463040"/>
            <a:ext cx="5349240" cy="4800600"/>
            <a:chOff x="6217920" y="1463040"/>
            <a:chExt cx="5349240" cy="4800600"/>
          </a:xfrm>
        </p:grpSpPr>
        <p:sp>
          <p:nvSpPr>
            <p:cNvPr id="22" name="Rounded Rectangle 21"/>
            <p:cNvSpPr/>
            <p:nvPr/>
          </p:nvSpPr>
          <p:spPr>
            <a:xfrm>
              <a:off x="6217920" y="1463040"/>
              <a:ext cx="5349240" cy="4800600"/>
            </a:xfrm>
            <a:prstGeom prst="roundRect">
              <a:avLst>
                <a:gd name="adj" fmla="val 7000"/>
              </a:avLst>
            </a:prstGeom>
            <a:solidFill>
              <a:srgbClr val="FFFFFF"/>
            </a:solidFill>
            <a:ln w="31750">
              <a:solidFill>
                <a:srgbClr val="3B5BDB"/>
              </a:solidFill>
            </a:ln>
            <a:effectLst>
              <a:outerShdw blurRad="203200" dist="63500" dir="5400000" algn="t" rotWithShape="0">
                <a:srgbClr val="2D1E5F">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37960" y="1645920"/>
              <a:ext cx="4754880" cy="411480"/>
            </a:xfrm>
            <a:prstGeom prst="rect">
              <a:avLst/>
            </a:prstGeom>
            <a:noFill/>
          </p:spPr>
          <p:txBody>
            <a:bodyPr wrap="square" lIns="0" rIns="0" tIns="0" bIns="0" anchor="t">
              <a:spAutoFit/>
            </a:bodyPr>
            <a:lstStyle/>
            <a:p>
              <a:pPr algn="l"/>
              <a:r>
                <a:rPr sz="2200" b="1">
                  <a:solidFill>
                    <a:srgbClr val="3B5BDB"/>
                  </a:solidFill>
                  <a:latin typeface="Calibri"/>
                </a:rPr>
                <a:t>EXPERTISE: STATE OF KNOWLEDGE</a:t>
              </a:r>
            </a:p>
          </p:txBody>
        </p:sp>
        <p:sp>
          <p:nvSpPr>
            <p:cNvPr id="24" name="Rectangle 23"/>
            <p:cNvSpPr/>
            <p:nvPr/>
          </p:nvSpPr>
          <p:spPr>
            <a:xfrm>
              <a:off x="6537960" y="2286000"/>
              <a:ext cx="73152" cy="731520"/>
            </a:xfrm>
            <a:prstGeom prst="rect">
              <a:avLst/>
            </a:prstGeom>
            <a:solidFill>
              <a:srgbClr val="3B5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12280" y="2240280"/>
              <a:ext cx="4572000" cy="411480"/>
            </a:xfrm>
            <a:prstGeom prst="rect">
              <a:avLst/>
            </a:prstGeom>
            <a:noFill/>
          </p:spPr>
          <p:txBody>
            <a:bodyPr wrap="square" lIns="0" rIns="0" tIns="0" bIns="0" anchor="t">
              <a:spAutoFit/>
            </a:bodyPr>
            <a:lstStyle/>
            <a:p>
              <a:pPr algn="l"/>
              <a:r>
                <a:rPr sz="2000" b="1">
                  <a:solidFill>
                    <a:srgbClr val="1E1740"/>
                  </a:solidFill>
                  <a:latin typeface="Calibri"/>
                </a:rPr>
                <a:t>Cha et al., 2010</a:t>
              </a:r>
            </a:p>
          </p:txBody>
        </p:sp>
        <p:sp>
          <p:nvSpPr>
            <p:cNvPr id="26" name="TextBox 25"/>
            <p:cNvSpPr txBox="1"/>
            <p:nvPr/>
          </p:nvSpPr>
          <p:spPr>
            <a:xfrm>
              <a:off x="6812280" y="2624328"/>
              <a:ext cx="4572000" cy="411480"/>
            </a:xfrm>
            <a:prstGeom prst="rect">
              <a:avLst/>
            </a:prstGeom>
            <a:noFill/>
          </p:spPr>
          <p:txBody>
            <a:bodyPr wrap="square" lIns="0" rIns="0" tIns="0" bIns="0" anchor="t">
              <a:spAutoFit/>
            </a:bodyPr>
            <a:lstStyle/>
            <a:p>
              <a:pPr algn="l"/>
              <a:r>
                <a:rPr sz="1800" b="0">
                  <a:solidFill>
                    <a:srgbClr val="5E5878"/>
                  </a:solidFill>
                  <a:latin typeface="Calibri"/>
                </a:rPr>
                <a:t>Followers are not real influence</a:t>
              </a:r>
            </a:p>
          </p:txBody>
        </p:sp>
        <p:sp>
          <p:nvSpPr>
            <p:cNvPr id="27" name="Rectangle 26"/>
            <p:cNvSpPr/>
            <p:nvPr/>
          </p:nvSpPr>
          <p:spPr>
            <a:xfrm>
              <a:off x="6537960" y="3264408"/>
              <a:ext cx="73152" cy="731520"/>
            </a:xfrm>
            <a:prstGeom prst="rect">
              <a:avLst/>
            </a:prstGeom>
            <a:solidFill>
              <a:srgbClr val="3B5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12280" y="3218688"/>
              <a:ext cx="4572000" cy="411480"/>
            </a:xfrm>
            <a:prstGeom prst="rect">
              <a:avLst/>
            </a:prstGeom>
            <a:noFill/>
          </p:spPr>
          <p:txBody>
            <a:bodyPr wrap="square" lIns="0" rIns="0" tIns="0" bIns="0" anchor="t">
              <a:spAutoFit/>
            </a:bodyPr>
            <a:lstStyle/>
            <a:p>
              <a:pPr algn="l"/>
              <a:r>
                <a:rPr sz="2000" b="1">
                  <a:solidFill>
                    <a:srgbClr val="1E1740"/>
                  </a:solidFill>
                  <a:latin typeface="Calibri"/>
                </a:rPr>
                <a:t>Szabo and Huberman, 2010</a:t>
              </a:r>
            </a:p>
          </p:txBody>
        </p:sp>
        <p:sp>
          <p:nvSpPr>
            <p:cNvPr id="29" name="TextBox 28"/>
            <p:cNvSpPr txBox="1"/>
            <p:nvPr/>
          </p:nvSpPr>
          <p:spPr>
            <a:xfrm>
              <a:off x="6812280" y="3602736"/>
              <a:ext cx="4572000" cy="411480"/>
            </a:xfrm>
            <a:prstGeom prst="rect">
              <a:avLst/>
            </a:prstGeom>
            <a:noFill/>
          </p:spPr>
          <p:txBody>
            <a:bodyPr wrap="square" lIns="0" rIns="0" tIns="0" bIns="0" anchor="t">
              <a:spAutoFit/>
            </a:bodyPr>
            <a:lstStyle/>
            <a:p>
              <a:pPr algn="l"/>
              <a:r>
                <a:rPr sz="1800" b="0">
                  <a:solidFill>
                    <a:srgbClr val="5E5878"/>
                  </a:solidFill>
                  <a:latin typeface="Calibri"/>
                </a:rPr>
                <a:t>Content popularity can be predicted</a:t>
              </a:r>
            </a:p>
          </p:txBody>
        </p:sp>
        <p:sp>
          <p:nvSpPr>
            <p:cNvPr id="30" name="Rectangle 29"/>
            <p:cNvSpPr/>
            <p:nvPr/>
          </p:nvSpPr>
          <p:spPr>
            <a:xfrm>
              <a:off x="6537960" y="4242816"/>
              <a:ext cx="73152" cy="731520"/>
            </a:xfrm>
            <a:prstGeom prst="rect">
              <a:avLst/>
            </a:prstGeom>
            <a:solidFill>
              <a:srgbClr val="3B5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12280" y="4197096"/>
              <a:ext cx="4572000" cy="411480"/>
            </a:xfrm>
            <a:prstGeom prst="rect">
              <a:avLst/>
            </a:prstGeom>
            <a:noFill/>
          </p:spPr>
          <p:txBody>
            <a:bodyPr wrap="square" lIns="0" rIns="0" tIns="0" bIns="0" anchor="t">
              <a:spAutoFit/>
            </a:bodyPr>
            <a:lstStyle/>
            <a:p>
              <a:pPr algn="l"/>
              <a:r>
                <a:rPr sz="2000" b="1">
                  <a:solidFill>
                    <a:srgbClr val="1E1740"/>
                  </a:solidFill>
                  <a:latin typeface="Calibri"/>
                </a:rPr>
                <a:t>Bakshy et al., 2011</a:t>
              </a:r>
            </a:p>
          </p:txBody>
        </p:sp>
        <p:sp>
          <p:nvSpPr>
            <p:cNvPr id="32" name="TextBox 31"/>
            <p:cNvSpPr txBox="1"/>
            <p:nvPr/>
          </p:nvSpPr>
          <p:spPr>
            <a:xfrm>
              <a:off x="6812280" y="4581144"/>
              <a:ext cx="4572000" cy="411480"/>
            </a:xfrm>
            <a:prstGeom prst="rect">
              <a:avLst/>
            </a:prstGeom>
            <a:noFill/>
          </p:spPr>
          <p:txBody>
            <a:bodyPr wrap="square" lIns="0" rIns="0" tIns="0" bIns="0" anchor="t">
              <a:spAutoFit/>
            </a:bodyPr>
            <a:lstStyle/>
            <a:p>
              <a:pPr algn="l"/>
              <a:r>
                <a:rPr sz="1800" b="0">
                  <a:solidFill>
                    <a:srgbClr val="5E5878"/>
                  </a:solidFill>
                  <a:latin typeface="Calibri"/>
                </a:rPr>
                <a:t>A single post is hard to predict</a:t>
              </a:r>
            </a:p>
          </p:txBody>
        </p:sp>
        <p:sp>
          <p:nvSpPr>
            <p:cNvPr id="33" name="Rectangle 32"/>
            <p:cNvSpPr/>
            <p:nvPr/>
          </p:nvSpPr>
          <p:spPr>
            <a:xfrm>
              <a:off x="6537960" y="5221224"/>
              <a:ext cx="73152" cy="731520"/>
            </a:xfrm>
            <a:prstGeom prst="rect">
              <a:avLst/>
            </a:prstGeom>
            <a:solidFill>
              <a:srgbClr val="3B5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12280" y="5175504"/>
              <a:ext cx="4572000" cy="411480"/>
            </a:xfrm>
            <a:prstGeom prst="rect">
              <a:avLst/>
            </a:prstGeom>
            <a:noFill/>
          </p:spPr>
          <p:txBody>
            <a:bodyPr wrap="square" lIns="0" rIns="0" tIns="0" bIns="0" anchor="t">
              <a:spAutoFit/>
            </a:bodyPr>
            <a:lstStyle/>
            <a:p>
              <a:pPr algn="l"/>
              <a:r>
                <a:rPr sz="2000" b="1">
                  <a:solidFill>
                    <a:srgbClr val="1E1740"/>
                  </a:solidFill>
                  <a:latin typeface="Calibri"/>
                </a:rPr>
                <a:t>Angelopoulos and Bates, 2023</a:t>
              </a:r>
            </a:p>
          </p:txBody>
        </p:sp>
        <p:sp>
          <p:nvSpPr>
            <p:cNvPr id="35" name="TextBox 34"/>
            <p:cNvSpPr txBox="1"/>
            <p:nvPr/>
          </p:nvSpPr>
          <p:spPr>
            <a:xfrm>
              <a:off x="6812280" y="5559552"/>
              <a:ext cx="4572000" cy="411480"/>
            </a:xfrm>
            <a:prstGeom prst="rect">
              <a:avLst/>
            </a:prstGeom>
            <a:noFill/>
          </p:spPr>
          <p:txBody>
            <a:bodyPr wrap="square" lIns="0" rIns="0" tIns="0" bIns="0" anchor="t">
              <a:spAutoFit/>
            </a:bodyPr>
            <a:lstStyle/>
            <a:p>
              <a:pPr algn="l"/>
              <a:r>
                <a:rPr sz="1800" b="0">
                  <a:solidFill>
                    <a:srgbClr val="5E5878"/>
                  </a:solidFill>
                  <a:latin typeface="Calibri"/>
                </a:rPr>
                <a:t>Uncertainty intervals with a guarantee</a:t>
              </a: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9" fill="hold">
                      <p:stCondLst>
                        <p:cond delay="indefinite"/>
                        <p:cond evt="onBegin" delay="0">
                          <p:tn val="2"/>
                        </p:cond>
                      </p:stCondLst>
                      <p:childTnLst>
                        <p:par>
                          <p:cTn id="3" fill="hold">
                            <p:stCondLst>
                              <p:cond delay="0"/>
                            </p:stCondLst>
                            <p:childTnLst>
                              <p:par>
                                <p:cTn id="4" presetID="42" presetClass="entr" presetSubtype="0" fill="hold" nodeType="afterEffect">
                                  <p:stCondLst>
                                    <p:cond delay="0"/>
                                  </p:stCondLst>
                                  <p:childTnLst>
                                    <p:set>
                                      <p:cBhvr>
                                        <p:cTn id="5" dur="1" fill="hold">
                                          <p:stCondLst>
                                            <p:cond delay="0"/>
                                          </p:stCondLst>
                                        </p:cTn>
                                        <p:tgtEl>
                                          <p:spTgt spid="8"/>
                                        </p:tgtEl>
                                        <p:attrNameLst>
                                          <p:attrName>style.visibility</p:attrName>
                                        </p:attrNameLst>
                                      </p:cBhvr>
                                      <p:to>
                                        <p:strVal val="visible"/>
                                      </p:to>
                                    </p:set>
                                    <p:animEffect transition="in" filter="fade">
                                      <p:cBhvr>
                                        <p:cTn id="6" dur="500"/>
                                        <p:tgtEl>
                                          <p:spTgt spid="8"/>
                                        </p:tgtEl>
                                      </p:cBhvr>
                                    </p:animEffec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ppt_y+.08"/>
                                          </p:val>
                                        </p:tav>
                                        <p:tav tm="100000">
                                          <p:val>
                                            <p:strVal val="#ppt_y"/>
                                          </p:val>
                                        </p:tav>
                                      </p:tavLst>
                                    </p:anim>
                                  </p:childTnLst>
                                </p:cTn>
                              </p:par>
                            </p:childTnLst>
                          </p:cTn>
                        </p:par>
                        <p:par>
                          <p:cTn id="9" fill="hold">
                            <p:stCondLst>
                              <p:cond delay="620"/>
                            </p:stCondLst>
                            <p:childTnLst>
                              <p:par>
                                <p:cTn id="10" presetID="42" presetClass="entr" presetSubtype="0" fill="hold" nodeType="after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anim calcmode="lin" valueType="num">
                                      <p:cBhvr additive="base">
                                        <p:cTn id="13" dur="500" fill="hold"/>
                                        <p:tgtEl>
                                          <p:spTgt spid="21"/>
                                        </p:tgtEl>
                                        <p:attrNameLst>
                                          <p:attrName>ppt_x</p:attrName>
                                        </p:attrNameLst>
                                      </p:cBhvr>
                                      <p:tavLst>
                                        <p:tav tm="0">
                                          <p:val>
                                            <p:strVal val="#ppt_x"/>
                                          </p:val>
                                        </p:tav>
                                        <p:tav tm="100000">
                                          <p:val>
                                            <p:strVal val="#ppt_x"/>
                                          </p:val>
                                        </p:tav>
                                      </p:tavLst>
                                    </p:anim>
                                    <p:anim calcmode="lin" valueType="num">
                                      <p:cBhvr additive="base">
                                        <p:cTn id="14" dur="500" fill="hold"/>
                                        <p:tgtEl>
                                          <p:spTgt spid="21"/>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