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Dzień dobry. Zacznę od prostego pytania: ile osób naprawdę zobaczyło dany post w mediach społecznościowych? Wydaje się, że to podstawowa informacja, a bardzo często po prostu jej nie mamy. Nasz projekt dotyczy tego, jak taką widoczność oszacować, kiedy platforma jej nie pokazuje. Robimy go w ramach kursu analizy mediów, na potrzeby firmy Brand24. Przez najbliższe minuty pokażę naszą hipotezę, jak chcemy ją sprawdzić, komu się to przyda i dlaczego nam się uda.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Zacznijmy od problemu. Platformy społecznościowe bardzo często nie ujawniają, ile osób faktycznie zobaczyło dany post. Jednym z powodów jest to, że same zarabiają na reklamach, więc zasięg jest dla nich zasobem handlowym, a nie informacją, którą chętnie oddają. Brand24 to narzędzie, które monitoruje wzmianki o markach w internecie. Widzi więc, że ktoś napisał o marce, ale nie zawsze wie, ilu ludzi to przeczytało. Wyobraźcie sobie post o marce: nie wiemy, czy zobaczyło go dziesięć osób, czy dziesięć tysięcy, a dla marki to ogromna różnica. Dlatego musi tę widoczność szacować. I tu pojawia się nasza hipoteza.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Zamiast problemu stawiamy hipotezę. Brzmi tak: widoczność posta da się oszacować lepiej niż dzisiejsza reguła Brand24, jeśli oprócz liczby obserwujących weźmiemy pod uwagę reakcje, czyli polubienia, komentarze i udostępnienia. Dziś wynikiem jest jedna liczba: obserwujący razy stała. My chcemy dać estymację razem z przedziałem niepewności, żeby było wiadomo, kiedy jej nie ufać. Hipoteza jest falsyfikowalna: jeśli na postach, dla których znamy prawdziwe wyświetlenia, nasz model nie będzie lepszy od reguły Brand24, uznajemy ją za obaloną. Taki wynik też jest wartościowy. (~35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Jak chcemy to ugryźć od strony technologii? Cztery kroki. Najpierw eksploracja danych: braki, rozkłady i dziwne przypadki, na przykład posty z ogromnym zasięgiem. Potem estymacja: model w Pythonie na skali logarytmicznej, który korzysta z obserwujących, polubień, komentarzy, udostępnień i platformy. Trzeci krok to walidacja krzyżowa tam, gdzie znamy prawdziwe wyświetlenia. Czwarty to niepewność: zamiast jednej liczby podajemy przedział. Pracujemy na dwunastu i pół tysiąca wzmianek z pięciu platform. Na dole widać, dla jakiej części wzmianek znamy prawdziwe wyświetlenia: TikTok 100 procent, YouTube 99, Twitter 75, a Facebook i Instagram zero. To nasz punkt odniesienia.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Naszym klientem jest społeczeństwo, więc kto na tym zyska? Po pierwsze firmy i marki: wiedzą, ile osób naprawdę zobaczyło wzmiankę. Po drugie małe firmy i organizacje pozarządowe, których nie stać na płatne dane od platform. Po trzecie dziennikarze i fact-checkerzy: mogą ocenić, jak daleko zaszła fałszywa informacja. Po czwarte badacze mediów, którzy dostają miarę razem z niepewnością. I wreszcie każdy z nas: mniej napompowanych liczb w raportach i w mediach.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Zamiast wielkości rynku szacujemy impact, i traktujemy to jako zabawę w rzędy wielkości. Na górze: na świecie jest około pięciu miliardów kont w mediach społecznościowych, tak podaje raport DataReportal. Każdy ich post może być mierzony uczciwiej. Bliżej nas: Brand24 podaje, że korzysta z niego ponad dwa tysiące czterysta firm. Jeśli w każdej raporty czyta około pięciu osób, to bezpośrednio jakieś dwanaście tysięcy ludzi dostaje lepsze liczby. To nie jest pomiar, tylko oszacowanie, ale pokazuje skalę.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nam się uda? Dwa powody. Pierwszy to wykonalność: mamy legalne dane od zleceniodawcy, firmy Brand24, czyli dwanaście i pół tysiąca publicznych wzmianek z pięciu platform. Na TikToku i YouTubie znamy prawdziwe wyświetlenia, a danych osobowych autorów nie używamy. Wstępny test w eksploracji jest obiecujący. Drugi to stan wiedzy, na którym się opieramy: Cha i współautorzy pokazali, że liczba obserwujących to nie realny wpływ. Szabo i Huberman, że popularność treści da się przewidywać. Bakshy i współautorzy, że pojedynczy post trudno przewidzieć, dlatego potrzebujemy niepewności. A metody konformalne, opisane przez Angelopoulosa i Batesa, dają przedziały z gwarancją. Dziękuję.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3A2878"/>
            </a:gs>
            <a:gs pos="100000">
              <a:srgbClr val="170E3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b1"/>
          <p:cNvSpPr/>
          <p:nvPr/>
        </p:nvSpPr>
        <p:spPr>
          <a:xfrm>
            <a:off x="8869680" y="365760"/>
            <a:ext cx="2926080" cy="2926080"/>
          </a:xfrm>
          <a:prstGeom prst="ellipse">
            <a:avLst/>
          </a:prstGeom>
          <a:solidFill>
            <a:srgbClr val="E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2"/>
          <p:cNvSpPr/>
          <p:nvPr/>
        </p:nvSpPr>
        <p:spPr>
          <a:xfrm>
            <a:off x="10515600" y="4023360"/>
            <a:ext cx="1371600" cy="1371600"/>
          </a:xfrm>
          <a:prstGeom prst="ellipse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3"/>
          <p:cNvSpPr/>
          <p:nvPr/>
        </p:nvSpPr>
        <p:spPr>
          <a:xfrm>
            <a:off x="7680960" y="4389120"/>
            <a:ext cx="914400" cy="914400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"/>
          <p:cNvSpPr/>
          <p:nvPr/>
        </p:nvSpPr>
        <p:spPr>
          <a:xfrm>
            <a:off x="0" y="6748272"/>
            <a:ext cx="1741670" cy="109728"/>
          </a:xfrm>
          <a:prstGeom prst="rect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7406640" y="1097280"/>
            <a:ext cx="320040" cy="320040"/>
          </a:xfrm>
          <a:prstGeom prst="star4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4-Point Star 6"/>
          <p:cNvSpPr/>
          <p:nvPr/>
        </p:nvSpPr>
        <p:spPr>
          <a:xfrm>
            <a:off x="11521440" y="3017520"/>
            <a:ext cx="256032" cy="256032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6949440" y="3566160"/>
            <a:ext cx="201168" cy="201168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9326880" y="5760720"/>
            <a:ext cx="274320" cy="274320"/>
          </a:xfrm>
          <a:prstGeom prst="star4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Group 9"/>
          <p:cNvGrpSpPr/>
          <p:nvPr/>
        </p:nvGrpSpPr>
        <p:grpSpPr>
          <a:xfrm>
            <a:off x="8138160" y="2103120"/>
            <a:ext cx="3200400" cy="2286000"/>
            <a:chOff x="8138160" y="2103120"/>
            <a:chExt cx="3200400" cy="2286000"/>
          </a:xfrm>
        </p:grpSpPr>
        <p:sp>
          <p:nvSpPr>
            <p:cNvPr id="11" name="Rounded Rectangle 10"/>
            <p:cNvSpPr/>
            <p:nvPr/>
          </p:nvSpPr>
          <p:spPr>
            <a:xfrm rot="21240000">
              <a:off x="8138160" y="2103120"/>
              <a:ext cx="3200400" cy="22860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0" dist="152400" dir="5400000" algn="t" rotWithShape="0">
                <a:srgbClr val="0B062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 rot="21240000">
              <a:off x="8412480" y="2423160"/>
              <a:ext cx="502920" cy="502920"/>
            </a:xfrm>
            <a:prstGeom prst="ellipse">
              <a:avLst/>
            </a:prstGeom>
            <a:solidFill>
              <a:srgbClr val="F0E9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 rot="21240000">
              <a:off x="9052560" y="2514600"/>
              <a:ext cx="1554480" cy="137160"/>
            </a:xfrm>
            <a:prstGeom prst="roundRect">
              <a:avLst>
                <a:gd name="adj" fmla="val 50000"/>
              </a:avLst>
            </a:prstGeom>
            <a:solidFill>
              <a:srgbClr val="F0E9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9144000" y="3193542"/>
              <a:ext cx="1188720" cy="65379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D1E5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9509531" y="3291611"/>
              <a:ext cx="457657" cy="457657"/>
            </a:xfrm>
            <a:prstGeom prst="ellipse">
              <a:avLst/>
            </a:prstGeom>
            <a:solidFill>
              <a:srgbClr val="E847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9658269" y="3440349"/>
              <a:ext cx="160180" cy="160180"/>
            </a:xfrm>
            <a:prstGeom prst="ellipse">
              <a:avLst/>
            </a:prstGeom>
            <a:solidFill>
              <a:srgbClr val="2D1E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9706323" y="3344241"/>
              <a:ext cx="88099" cy="8809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 rot="21240000">
              <a:off x="10332720" y="3794760"/>
              <a:ext cx="822960" cy="457200"/>
            </a:xfrm>
            <a:prstGeom prst="roundRect">
              <a:avLst>
                <a:gd name="adj" fmla="val 50000"/>
              </a:avLst>
            </a:prstGeom>
            <a:solidFill>
              <a:srgbClr val="FFC247"/>
            </a:solidFill>
            <a:ln>
              <a:noFill/>
            </a:ln>
            <a:effectLst>
              <a:outerShdw blurRad="127000" dist="38100" dir="5400000" algn="t" rotWithShape="0">
                <a:srgbClr val="0B062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200" b="1">
                  <a:solidFill>
                    <a:srgbClr val="1E1740"/>
                  </a:solidFill>
                  <a:latin typeface="Calibri"/>
                </a:rPr>
                <a:t>???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22960" y="1645920"/>
            <a:ext cx="7040880" cy="2788920"/>
            <a:chOff x="822960" y="1645920"/>
            <a:chExt cx="7040880" cy="2788920"/>
          </a:xfrm>
        </p:grpSpPr>
        <p:sp>
          <p:nvSpPr>
            <p:cNvPr id="20" name="Rectangle 19"/>
            <p:cNvSpPr/>
            <p:nvPr/>
          </p:nvSpPr>
          <p:spPr>
            <a:xfrm>
              <a:off x="822960" y="1783080"/>
              <a:ext cx="128016" cy="2651760"/>
            </a:xfrm>
            <a:prstGeom prst="rect">
              <a:avLst/>
            </a:prstGeom>
            <a:solidFill>
              <a:srgbClr val="FFC2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8720" y="1645920"/>
              <a:ext cx="6675120" cy="17373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5200" b="1">
                  <a:solidFill>
                    <a:srgbClr val="FFFFFF"/>
                  </a:solidFill>
                  <a:latin typeface="Calibri"/>
                </a:rPr>
                <a:t>Ile osób naprawdę</a:t>
              </a:r>
            </a:p>
            <a:p>
              <a:pPr algn="l"/>
              <a:r>
                <a:rPr sz="5200" b="1">
                  <a:solidFill>
                    <a:srgbClr val="FFFFFF"/>
                  </a:solidFill>
                  <a:latin typeface="Calibri"/>
                </a:rPr>
                <a:t>zobaczyło ten post?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188720" y="36118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D98A"/>
                </a:solidFill>
                <a:latin typeface="Calibri"/>
              </a:rPr>
              <a:t>Jak estymować widoczność</a:t>
            </a:r>
          </a:p>
          <a:p>
            <a:pPr algn="l"/>
            <a:r>
              <a:rPr sz="2800" b="0">
                <a:solidFill>
                  <a:srgbClr val="FFD98A"/>
                </a:solidFill>
                <a:latin typeface="Calibri"/>
              </a:rPr>
              <a:t>postów społecznościowych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760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9C2E0"/>
                </a:solidFill>
                <a:latin typeface="Calibri"/>
              </a:rPr>
              <a:t>Projekt AMC  ·  dla Brand24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9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2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4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1"/>
          <p:cNvSpPr/>
          <p:nvPr/>
        </p:nvSpPr>
        <p:spPr>
          <a:xfrm>
            <a:off x="10424160" y="-1371600"/>
            <a:ext cx="2926080" cy="2926080"/>
          </a:xfrm>
          <a:prstGeom prst="ellipse">
            <a:avLst/>
          </a:prstGeom>
          <a:solidFill>
            <a:srgbClr val="E8475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2"/>
          <p:cNvSpPr/>
          <p:nvPr/>
        </p:nvSpPr>
        <p:spPr>
          <a:xfrm>
            <a:off x="11430000" y="6035040"/>
            <a:ext cx="1371600" cy="1371600"/>
          </a:xfrm>
          <a:prstGeom prst="ellipse">
            <a:avLst/>
          </a:prstGeom>
          <a:solidFill>
            <a:srgbClr val="FFC24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3"/>
          <p:cNvSpPr/>
          <p:nvPr/>
        </p:nvSpPr>
        <p:spPr>
          <a:xfrm>
            <a:off x="-457200" y="6309360"/>
            <a:ext cx="914400" cy="914400"/>
          </a:xfrm>
          <a:prstGeom prst="ellipse">
            <a:avLst/>
          </a:prstGeom>
          <a:solidFill>
            <a:srgbClr val="3B5BD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"/>
          <p:cNvSpPr/>
          <p:nvPr/>
        </p:nvSpPr>
        <p:spPr>
          <a:xfrm>
            <a:off x="0" y="6748272"/>
            <a:ext cx="3483341" cy="109728"/>
          </a:xfrm>
          <a:prstGeom prst="rect">
            <a:avLst/>
          </a:prstGeom>
          <a:solidFill>
            <a:srgbClr val="E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dot"/>
          <p:cNvSpPr/>
          <p:nvPr/>
        </p:nvSpPr>
        <p:spPr>
          <a:xfrm>
            <a:off x="640080" y="566928"/>
            <a:ext cx="310896" cy="310896"/>
          </a:xfrm>
          <a:prstGeom prst="ellipse">
            <a:avLst/>
          </a:prstGeom>
          <a:solidFill>
            <a:srgbClr val="E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1E1740"/>
                </a:solidFill>
                <a:latin typeface="Calibri"/>
              </a:rPr>
              <a:t>Platformy ukrywają widoczność postów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40080" y="1554480"/>
            <a:ext cx="4480560" cy="4572000"/>
            <a:chOff x="640080" y="1554480"/>
            <a:chExt cx="4480560" cy="4572000"/>
          </a:xfrm>
        </p:grpSpPr>
        <p:sp>
          <p:nvSpPr>
            <p:cNvPr id="9" name="Rounded Rectangle 8"/>
            <p:cNvSpPr/>
            <p:nvPr/>
          </p:nvSpPr>
          <p:spPr>
            <a:xfrm>
              <a:off x="640080" y="1554480"/>
              <a:ext cx="4480560" cy="4572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9050">
              <a:solidFill>
                <a:srgbClr val="E6DDEE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960120" y="1874519"/>
              <a:ext cx="685800" cy="685800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828800" y="1965960"/>
              <a:ext cx="2377440" cy="182880"/>
            </a:xfrm>
            <a:prstGeom prst="roundRect">
              <a:avLst>
                <a:gd name="adj" fmla="val 50000"/>
              </a:avLst>
            </a:prstGeom>
            <a:solidFill>
              <a:srgbClr val="F0E9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828800" y="2286000"/>
              <a:ext cx="1554480" cy="182880"/>
            </a:xfrm>
            <a:prstGeom prst="roundRect">
              <a:avLst>
                <a:gd name="adj" fmla="val 50000"/>
              </a:avLst>
            </a:prstGeom>
            <a:solidFill>
              <a:srgbClr val="F0E9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60120" y="2834640"/>
              <a:ext cx="3840480" cy="182880"/>
            </a:xfrm>
            <a:prstGeom prst="roundRect">
              <a:avLst>
                <a:gd name="adj" fmla="val 50000"/>
              </a:avLst>
            </a:prstGeom>
            <a:solidFill>
              <a:srgbClr val="F0E9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60120" y="3154680"/>
              <a:ext cx="3108960" cy="182880"/>
            </a:xfrm>
            <a:prstGeom prst="roundRect">
              <a:avLst>
                <a:gd name="adj" fmla="val 50000"/>
              </a:avLst>
            </a:prstGeom>
            <a:solidFill>
              <a:srgbClr val="F0E9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417319" y="4240530"/>
              <a:ext cx="1371600" cy="75438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D1E5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9087" y="4353687"/>
              <a:ext cx="528066" cy="528066"/>
            </a:xfrm>
            <a:prstGeom prst="ellipse">
              <a:avLst/>
            </a:prstGeom>
            <a:solidFill>
              <a:srgbClr val="E847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010708" y="4525308"/>
              <a:ext cx="184823" cy="184823"/>
            </a:xfrm>
            <a:prstGeom prst="ellipse">
              <a:avLst/>
            </a:prstGeom>
            <a:solidFill>
              <a:srgbClr val="2D1E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066155" y="4414414"/>
              <a:ext cx="101652" cy="10165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154680" y="4297680"/>
              <a:ext cx="1554480" cy="685800"/>
            </a:xfrm>
            <a:prstGeom prst="roundRect">
              <a:avLst>
                <a:gd name="adj" fmla="val 50000"/>
              </a:avLst>
            </a:prstGeom>
            <a:solidFill>
              <a:srgbClr val="FFC247"/>
            </a:solidFill>
            <a:ln>
              <a:noFill/>
            </a:ln>
            <a:effectLst>
              <a:outerShdw blurRad="101600" dist="38100" dir="5400000" algn="t" rotWithShape="0">
                <a:srgbClr val="2D1E5F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400" b="1">
                  <a:solidFill>
                    <a:srgbClr val="1E1740"/>
                  </a:solidFill>
                  <a:latin typeface="Calibri"/>
                </a:rPr>
                <a:t>???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0120" y="5440680"/>
              <a:ext cx="39319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2400" b="1">
                  <a:solidFill>
                    <a:srgbClr val="2D1E5F"/>
                  </a:solidFill>
                  <a:latin typeface="Calibri"/>
                </a:rPr>
                <a:t>Ile osób to zobaczyło?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577840" y="1554480"/>
            <a:ext cx="5989320" cy="1417320"/>
            <a:chOff x="5577840" y="1554480"/>
            <a:chExt cx="5989320" cy="1417320"/>
          </a:xfrm>
        </p:grpSpPr>
        <p:sp>
          <p:nvSpPr>
            <p:cNvPr id="22" name="Rounded Rectangle 21"/>
            <p:cNvSpPr/>
            <p:nvPr/>
          </p:nvSpPr>
          <p:spPr>
            <a:xfrm>
              <a:off x="5577840" y="1554480"/>
              <a:ext cx="5989320" cy="1417320"/>
            </a:xfrm>
            <a:prstGeom prst="roundRect">
              <a:avLst>
                <a:gd name="adj" fmla="val 12000"/>
              </a:avLst>
            </a:prstGeom>
            <a:gradFill rotWithShape="1">
              <a:gsLst>
                <a:gs pos="0">
                  <a:srgbClr val="2D1E5F"/>
                </a:gs>
                <a:gs pos="100000">
                  <a:srgbClr val="625687"/>
                </a:gs>
              </a:gsLst>
              <a:lin scaled="0" ang="0"/>
            </a:gradFill>
            <a:ln>
              <a:noFill/>
            </a:ln>
            <a:effectLst>
              <a:outerShdw blurRad="177800" dist="63500" dir="5400000" algn="t" rotWithShape="0">
                <a:srgbClr val="2D1E5F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5852160" y="1874519"/>
              <a:ext cx="777240" cy="7772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2D1E5F"/>
                  </a:solidFill>
                  <a:latin typeface="Calibri"/>
                </a:rPr>
                <a:t>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0" y="1554480"/>
              <a:ext cx="4572000" cy="1417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600" b="1">
                  <a:solidFill>
                    <a:srgbClr val="FFFFFF"/>
                  </a:solidFill>
                  <a:latin typeface="Calibri"/>
                </a:rPr>
                <a:t>Zasięg często jest ukryty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577840" y="3108960"/>
            <a:ext cx="5989320" cy="1417320"/>
            <a:chOff x="5577840" y="3108960"/>
            <a:chExt cx="5989320" cy="1417320"/>
          </a:xfrm>
        </p:grpSpPr>
        <p:sp>
          <p:nvSpPr>
            <p:cNvPr id="26" name="Rounded Rectangle 25"/>
            <p:cNvSpPr/>
            <p:nvPr/>
          </p:nvSpPr>
          <p:spPr>
            <a:xfrm>
              <a:off x="5577840" y="3108960"/>
              <a:ext cx="5989320" cy="1417320"/>
            </a:xfrm>
            <a:prstGeom prst="roundRect">
              <a:avLst>
                <a:gd name="adj" fmla="val 12000"/>
              </a:avLst>
            </a:prstGeom>
            <a:gradFill rotWithShape="1">
              <a:gsLst>
                <a:gs pos="0">
                  <a:srgbClr val="3B5BDB"/>
                </a:gs>
                <a:gs pos="100000">
                  <a:srgbClr val="6C84E4"/>
                </a:gs>
              </a:gsLst>
              <a:lin scaled="0" ang="0"/>
            </a:gradFill>
            <a:ln>
              <a:noFill/>
            </a:ln>
            <a:effectLst>
              <a:outerShdw blurRad="177800" dist="63500" dir="5400000" algn="t" rotWithShape="0">
                <a:srgbClr val="3B5BDB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852160" y="3429000"/>
              <a:ext cx="777240" cy="7772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3B5BDB"/>
                  </a:solidFill>
                  <a:latin typeface="Calibri"/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58000" y="3108960"/>
              <a:ext cx="4572000" cy="1417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600" b="1">
                  <a:solidFill>
                    <a:srgbClr val="FFFFFF"/>
                  </a:solidFill>
                  <a:latin typeface="Calibri"/>
                </a:rPr>
                <a:t>Zasięg to ich towar:</a:t>
              </a:r>
            </a:p>
            <a:p>
              <a:pPr algn="l"/>
              <a:r>
                <a:rPr sz="2600" b="1">
                  <a:solidFill>
                    <a:srgbClr val="FFFFFF"/>
                  </a:solidFill>
                  <a:latin typeface="Calibri"/>
                </a:rPr>
                <a:t>sprzedają reklamy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577840" y="4663440"/>
            <a:ext cx="5989320" cy="1417320"/>
            <a:chOff x="5577840" y="4663440"/>
            <a:chExt cx="5989320" cy="1417320"/>
          </a:xfrm>
        </p:grpSpPr>
        <p:sp>
          <p:nvSpPr>
            <p:cNvPr id="30" name="Rounded Rectangle 29"/>
            <p:cNvSpPr/>
            <p:nvPr/>
          </p:nvSpPr>
          <p:spPr>
            <a:xfrm>
              <a:off x="5577840" y="4663440"/>
              <a:ext cx="5989320" cy="1417320"/>
            </a:xfrm>
            <a:prstGeom prst="roundRect">
              <a:avLst>
                <a:gd name="adj" fmla="val 12000"/>
              </a:avLst>
            </a:prstGeom>
            <a:gradFill rotWithShape="1">
              <a:gsLst>
                <a:gs pos="0">
                  <a:srgbClr val="E8475A"/>
                </a:gs>
                <a:gs pos="100000">
                  <a:srgbClr val="EE7583"/>
                </a:gs>
              </a:gsLst>
              <a:lin scaled="0" ang="0"/>
            </a:gradFill>
            <a:ln>
              <a:noFill/>
            </a:ln>
            <a:effectLst>
              <a:outerShdw blurRad="177800" dist="63500" dir="5400000" algn="t" rotWithShape="0">
                <a:srgbClr val="E8475A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5852160" y="4983479"/>
              <a:ext cx="777240" cy="7772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E8475A"/>
                  </a:solidFill>
                  <a:latin typeface="Calibri"/>
                </a:rPr>
                <a:t>3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858000" y="4663440"/>
              <a:ext cx="4572000" cy="1417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600" b="1">
                  <a:solidFill>
                    <a:srgbClr val="FFFFFF"/>
                  </a:solidFill>
                  <a:latin typeface="Calibri"/>
                </a:rPr>
                <a:t>Brand24 musi więc szacować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9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2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4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6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1"/>
          <p:cNvSpPr/>
          <p:nvPr/>
        </p:nvSpPr>
        <p:spPr>
          <a:xfrm>
            <a:off x="10881360" y="-1097280"/>
            <a:ext cx="2377440" cy="2377440"/>
          </a:xfrm>
          <a:prstGeom prst="ellipse">
            <a:avLst/>
          </a:prstGeom>
          <a:solidFill>
            <a:srgbClr val="E8475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2"/>
          <p:cNvSpPr/>
          <p:nvPr/>
        </p:nvSpPr>
        <p:spPr>
          <a:xfrm>
            <a:off x="-640080" y="5943600"/>
            <a:ext cx="1463040" cy="1463040"/>
          </a:xfrm>
          <a:prstGeom prst="ellipse">
            <a:avLst/>
          </a:prstGeom>
          <a:solidFill>
            <a:srgbClr val="FFC24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3"/>
          <p:cNvSpPr/>
          <p:nvPr/>
        </p:nvSpPr>
        <p:spPr>
          <a:xfrm>
            <a:off x="11612880" y="3108960"/>
            <a:ext cx="822960" cy="822960"/>
          </a:xfrm>
          <a:prstGeom prst="ellipse">
            <a:avLst/>
          </a:prstGeom>
          <a:solidFill>
            <a:srgbClr val="3B5BD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"/>
          <p:cNvSpPr/>
          <p:nvPr/>
        </p:nvSpPr>
        <p:spPr>
          <a:xfrm>
            <a:off x="0" y="6748272"/>
            <a:ext cx="5225012" cy="109728"/>
          </a:xfrm>
          <a:prstGeom prst="rect">
            <a:avLst/>
          </a:prstGeom>
          <a:solidFill>
            <a:srgbClr val="E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dot"/>
          <p:cNvSpPr/>
          <p:nvPr/>
        </p:nvSpPr>
        <p:spPr>
          <a:xfrm>
            <a:off x="640080" y="566928"/>
            <a:ext cx="310896" cy="310896"/>
          </a:xfrm>
          <a:prstGeom prst="ellipse">
            <a:avLst/>
          </a:prstGeom>
          <a:solidFill>
            <a:srgbClr val="E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1E1740"/>
                </a:solidFill>
                <a:latin typeface="Calibri"/>
              </a:rPr>
              <a:t>Nasza hipoteza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40080" y="1463040"/>
            <a:ext cx="10927080" cy="1417320"/>
            <a:chOff x="640080" y="1463040"/>
            <a:chExt cx="10927080" cy="1417320"/>
          </a:xfrm>
        </p:grpSpPr>
        <p:sp>
          <p:nvSpPr>
            <p:cNvPr id="9" name="Rounded Rectangle 8"/>
            <p:cNvSpPr/>
            <p:nvPr/>
          </p:nvSpPr>
          <p:spPr>
            <a:xfrm>
              <a:off x="640080" y="1463040"/>
              <a:ext cx="10927080" cy="1417320"/>
            </a:xfrm>
            <a:prstGeom prst="roundRect">
              <a:avLst>
                <a:gd name="adj" fmla="val 12000"/>
              </a:avLst>
            </a:prstGeom>
            <a:gradFill rotWithShape="1">
              <a:gsLst>
                <a:gs pos="0">
                  <a:srgbClr val="2D1E5F"/>
                </a:gs>
                <a:gs pos="100000">
                  <a:srgbClr val="4B3591"/>
                </a:gs>
              </a:gsLst>
              <a:lin scaled="0" ang="0"/>
            </a:gradFill>
            <a:ln>
              <a:noFill/>
            </a:ln>
            <a:effectLst>
              <a:outerShdw blurRad="228600" dist="76200" dir="5400000" algn="t" rotWithShape="0">
                <a:srgbClr val="2D1E5F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60120" y="1572768"/>
              <a:ext cx="36576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800" b="1">
                  <a:solidFill>
                    <a:srgbClr val="FFC247"/>
                  </a:solidFill>
                  <a:latin typeface="Calibri"/>
                </a:rPr>
                <a:t>HIPOTEZA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60120" y="1920240"/>
              <a:ext cx="10332720" cy="8686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Calibri"/>
                </a:rPr>
                <a:t>Widoczność posta oszacujemy lepiej niż reguła Brand24,</a:t>
              </a:r>
            </a:p>
            <a:p>
              <a:pPr algn="l"/>
              <a:r>
                <a:rPr sz="2400" b="1">
                  <a:solidFill>
                    <a:srgbClr val="FFFFFF"/>
                  </a:solidFill>
                  <a:latin typeface="Calibri"/>
                </a:rPr>
                <a:t>łącząc obserwujących z reakcjami: polubieniami, komentarzami, udostępnieniami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40080" y="3108960"/>
            <a:ext cx="4937760" cy="2103120"/>
            <a:chOff x="640080" y="3108960"/>
            <a:chExt cx="4937760" cy="2103120"/>
          </a:xfrm>
        </p:grpSpPr>
        <p:sp>
          <p:nvSpPr>
            <p:cNvPr id="13" name="Rounded Rectangle 12"/>
            <p:cNvSpPr/>
            <p:nvPr/>
          </p:nvSpPr>
          <p:spPr>
            <a:xfrm>
              <a:off x="640080" y="3108960"/>
              <a:ext cx="4937760" cy="21031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9050">
              <a:solidFill>
                <a:srgbClr val="E6DDEE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" y="3218688"/>
              <a:ext cx="438912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5E5878"/>
                  </a:solidFill>
                  <a:latin typeface="Calibri"/>
                </a:rPr>
                <a:t>DZIŚ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4400" y="3584448"/>
              <a:ext cx="43891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800" b="1">
                  <a:solidFill>
                    <a:srgbClr val="1E1740"/>
                  </a:solidFill>
                  <a:latin typeface="Calibri"/>
                </a:rPr>
                <a:t>Jedna liczba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4400" y="4370832"/>
              <a:ext cx="4389120" cy="54864"/>
            </a:xfrm>
            <a:prstGeom prst="rect">
              <a:avLst/>
            </a:prstGeom>
            <a:solidFill>
              <a:srgbClr val="E6DD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880360" y="4187952"/>
              <a:ext cx="420624" cy="420624"/>
            </a:xfrm>
            <a:prstGeom prst="ellipse">
              <a:avLst/>
            </a:prstGeom>
            <a:solidFill>
              <a:srgbClr val="E847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" y="4709160"/>
              <a:ext cx="438912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5E5878"/>
                  </a:solidFill>
                  <a:latin typeface="Calibri"/>
                </a:rPr>
                <a:t>obserwujący × stała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669280" y="3108960"/>
            <a:ext cx="5897880" cy="2103120"/>
            <a:chOff x="5669280" y="3108960"/>
            <a:chExt cx="5897880" cy="2103120"/>
          </a:xfrm>
        </p:grpSpPr>
        <p:sp>
          <p:nvSpPr>
            <p:cNvPr id="20" name="Right Arrow 19"/>
            <p:cNvSpPr/>
            <p:nvPr/>
          </p:nvSpPr>
          <p:spPr>
            <a:xfrm>
              <a:off x="5669280" y="3886200"/>
              <a:ext cx="594360" cy="548640"/>
            </a:xfrm>
            <a:prstGeom prst="rightArrow">
              <a:avLst/>
            </a:prstGeom>
            <a:solidFill>
              <a:srgbClr val="FFC247"/>
            </a:solidFill>
            <a:ln>
              <a:noFill/>
            </a:ln>
            <a:effectLst>
              <a:outerShdw blurRad="101600" dist="38100" dir="5400000" algn="t" rotWithShape="0">
                <a:srgbClr val="2D1E5F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355080" y="3108960"/>
              <a:ext cx="5212080" cy="21031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8100">
              <a:solidFill>
                <a:srgbClr val="3B5BDB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629400" y="3218688"/>
              <a:ext cx="466344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3B5BDB"/>
                  </a:solidFill>
                  <a:latin typeface="Calibri"/>
                </a:rPr>
                <a:t>NASZ POMYSŁ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29400" y="3584448"/>
              <a:ext cx="466344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800" b="1">
                  <a:solidFill>
                    <a:srgbClr val="1E1740"/>
                  </a:solidFill>
                  <a:latin typeface="Calibri"/>
                </a:rPr>
                <a:t>Estymacja + przedział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629400" y="4370832"/>
              <a:ext cx="4663440" cy="54864"/>
            </a:xfrm>
            <a:prstGeom prst="rect">
              <a:avLst/>
            </a:prstGeom>
            <a:solidFill>
              <a:srgbClr val="E6DD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680960" y="4142232"/>
              <a:ext cx="2377440" cy="51206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EF2FF"/>
                </a:gs>
                <a:gs pos="100000">
                  <a:srgbClr val="C9D6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8650224" y="4187952"/>
              <a:ext cx="420624" cy="420624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29400" y="4709160"/>
              <a:ext cx="466344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5E5878"/>
                  </a:solidFill>
                  <a:latin typeface="Calibri"/>
                </a:rPr>
                <a:t>Wiemy też, kiedy jej nie ufać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40080" y="5440680"/>
            <a:ext cx="10927080" cy="868680"/>
            <a:chOff x="640080" y="5440680"/>
            <a:chExt cx="10927080" cy="868680"/>
          </a:xfrm>
        </p:grpSpPr>
        <p:sp>
          <p:nvSpPr>
            <p:cNvPr id="29" name="Rounded Rectangle 28"/>
            <p:cNvSpPr/>
            <p:nvPr/>
          </p:nvSpPr>
          <p:spPr>
            <a:xfrm>
              <a:off x="640080" y="5440680"/>
              <a:ext cx="10927080" cy="86868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E8475A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60120" y="5440680"/>
              <a:ext cx="10332720" cy="8686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200" b="1">
                  <a:solidFill>
                    <a:srgbClr val="E8475A"/>
                  </a:solidFill>
                  <a:latin typeface="Calibri"/>
                </a:rPr>
                <a:t>Obalona, jeśli model nie pobije reguły Brand24 na postach ze znanymi wyświetleniami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9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2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4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6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1"/>
          <p:cNvSpPr/>
          <p:nvPr/>
        </p:nvSpPr>
        <p:spPr>
          <a:xfrm>
            <a:off x="11247120" y="-822960"/>
            <a:ext cx="2011680" cy="2011680"/>
          </a:xfrm>
          <a:prstGeom prst="ellipse">
            <a:avLst/>
          </a:prstGeom>
          <a:solidFill>
            <a:srgbClr val="E8475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2"/>
          <p:cNvSpPr/>
          <p:nvPr/>
        </p:nvSpPr>
        <p:spPr>
          <a:xfrm>
            <a:off x="11338560" y="5943600"/>
            <a:ext cx="1645920" cy="1645920"/>
          </a:xfrm>
          <a:prstGeom prst="ellipse">
            <a:avLst/>
          </a:prstGeom>
          <a:solidFill>
            <a:srgbClr val="FFC24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3"/>
          <p:cNvSpPr/>
          <p:nvPr/>
        </p:nvSpPr>
        <p:spPr>
          <a:xfrm>
            <a:off x="-457200" y="6217920"/>
            <a:ext cx="1005840" cy="1005840"/>
          </a:xfrm>
          <a:prstGeom prst="ellipse">
            <a:avLst/>
          </a:prstGeom>
          <a:solidFill>
            <a:srgbClr val="3B5BD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"/>
          <p:cNvSpPr/>
          <p:nvPr/>
        </p:nvSpPr>
        <p:spPr>
          <a:xfrm>
            <a:off x="0" y="6748272"/>
            <a:ext cx="6966682" cy="109728"/>
          </a:xfrm>
          <a:prstGeom prst="rect">
            <a:avLst/>
          </a:prstGeom>
          <a:solidFill>
            <a:srgbClr val="E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dot"/>
          <p:cNvSpPr/>
          <p:nvPr/>
        </p:nvSpPr>
        <p:spPr>
          <a:xfrm>
            <a:off x="640080" y="566928"/>
            <a:ext cx="310896" cy="310896"/>
          </a:xfrm>
          <a:prstGeom prst="ellipse">
            <a:avLst/>
          </a:prstGeom>
          <a:solidFill>
            <a:srgbClr val="1FB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1E1740"/>
                </a:solidFill>
                <a:latin typeface="Calibri"/>
              </a:rPr>
              <a:t>Jak to ugryziemy: koncepcja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40080" y="1600200"/>
            <a:ext cx="2834640" cy="2606040"/>
            <a:chOff x="640080" y="1600200"/>
            <a:chExt cx="2834640" cy="2606040"/>
          </a:xfrm>
        </p:grpSpPr>
        <p:sp>
          <p:nvSpPr>
            <p:cNvPr id="9" name="Pentagon 8"/>
            <p:cNvSpPr/>
            <p:nvPr/>
          </p:nvSpPr>
          <p:spPr>
            <a:xfrm>
              <a:off x="640080" y="1600200"/>
              <a:ext cx="2834640" cy="1280160"/>
            </a:xfrm>
            <a:prstGeom prst="homePlate">
              <a:avLst>
                <a:gd name="adj" fmla="val 30000"/>
              </a:avLst>
            </a:prstGeom>
            <a:gradFill rotWithShape="1">
              <a:gsLst>
                <a:gs pos="0">
                  <a:srgbClr val="2D1E5F"/>
                </a:gs>
                <a:gs pos="100000">
                  <a:srgbClr val="5B5082"/>
                </a:gs>
              </a:gsLst>
              <a:lin scaled="0" ang="0"/>
            </a:gradFill>
            <a:ln>
              <a:noFill/>
            </a:ln>
            <a:effectLst>
              <a:outerShdw blurRad="152400" dist="50800" dir="5400000" algn="t" rotWithShape="0">
                <a:srgbClr val="2D1E5F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1600200"/>
              <a:ext cx="64008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54480" y="1600200"/>
              <a:ext cx="155448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Calibri"/>
                </a:rPr>
                <a:t>Eksploracja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3017520"/>
              <a:ext cx="2514600" cy="11887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2D1E5F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3017520"/>
              <a:ext cx="2103120" cy="11887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0">
                  <a:solidFill>
                    <a:srgbClr val="1E1740"/>
                  </a:solidFill>
                  <a:latin typeface="Calibri"/>
                </a:rPr>
                <a:t>Braki, rozkłady, dziwne przypadki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383280" y="1600200"/>
            <a:ext cx="2834640" cy="2606040"/>
            <a:chOff x="3383280" y="1600200"/>
            <a:chExt cx="2834640" cy="2606040"/>
          </a:xfrm>
        </p:grpSpPr>
        <p:sp>
          <p:nvSpPr>
            <p:cNvPr id="15" name="Pentagon 14"/>
            <p:cNvSpPr/>
            <p:nvPr/>
          </p:nvSpPr>
          <p:spPr>
            <a:xfrm>
              <a:off x="3383280" y="1600200"/>
              <a:ext cx="2834640" cy="1280160"/>
            </a:xfrm>
            <a:prstGeom prst="homePlate">
              <a:avLst>
                <a:gd name="adj" fmla="val 30000"/>
              </a:avLst>
            </a:prstGeom>
            <a:gradFill rotWithShape="1">
              <a:gsLst>
                <a:gs pos="0">
                  <a:srgbClr val="3B5BDB"/>
                </a:gs>
                <a:gs pos="100000">
                  <a:srgbClr val="667FE3"/>
                </a:gs>
              </a:gsLst>
              <a:lin scaled="0" ang="0"/>
            </a:gradFill>
            <a:ln>
              <a:noFill/>
            </a:ln>
            <a:effectLst>
              <a:outerShdw blurRad="152400" dist="50800" dir="5400000" algn="t" rotWithShape="0">
                <a:srgbClr val="3B5BDB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57600" y="1600200"/>
              <a:ext cx="64008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297680" y="1600200"/>
              <a:ext cx="155448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Calibri"/>
                </a:rPr>
                <a:t>Estymacja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429000" y="3017520"/>
              <a:ext cx="2514600" cy="11887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3B5BDB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57600" y="3017520"/>
              <a:ext cx="2103120" cy="11887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0">
                  <a:solidFill>
                    <a:srgbClr val="1E1740"/>
                  </a:solidFill>
                  <a:latin typeface="Calibri"/>
                </a:rPr>
                <a:t>Model z obserwujących i zaangażowania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126480" y="1600200"/>
            <a:ext cx="2834640" cy="2606040"/>
            <a:chOff x="6126480" y="1600200"/>
            <a:chExt cx="2834640" cy="2606040"/>
          </a:xfrm>
        </p:grpSpPr>
        <p:sp>
          <p:nvSpPr>
            <p:cNvPr id="21" name="Pentagon 20"/>
            <p:cNvSpPr/>
            <p:nvPr/>
          </p:nvSpPr>
          <p:spPr>
            <a:xfrm>
              <a:off x="6126480" y="1600200"/>
              <a:ext cx="2834640" cy="1280160"/>
            </a:xfrm>
            <a:prstGeom prst="homePlate">
              <a:avLst>
                <a:gd name="adj" fmla="val 30000"/>
              </a:avLst>
            </a:prstGeom>
            <a:gradFill rotWithShape="1">
              <a:gsLst>
                <a:gs pos="0">
                  <a:srgbClr val="E8475A"/>
                </a:gs>
                <a:gs pos="100000">
                  <a:srgbClr val="ED6F7E"/>
                </a:gs>
              </a:gsLst>
              <a:lin scaled="0" ang="0"/>
            </a:gradFill>
            <a:ln>
              <a:noFill/>
            </a:ln>
            <a:effectLst>
              <a:outerShdw blurRad="152400" dist="50800" dir="5400000" algn="t" rotWithShape="0">
                <a:srgbClr val="E8475A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00800" y="1600200"/>
              <a:ext cx="64008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040880" y="1600200"/>
              <a:ext cx="155448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Calibri"/>
                </a:rPr>
                <a:t>Walidacja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172200" y="3017520"/>
              <a:ext cx="2514600" cy="11887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E8475A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00800" y="3017520"/>
              <a:ext cx="2103120" cy="11887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0">
                  <a:solidFill>
                    <a:srgbClr val="1E1740"/>
                  </a:solidFill>
                  <a:latin typeface="Calibri"/>
                </a:rPr>
                <a:t>Test tam, gdzie znamy wyświetlenia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869680" y="1600200"/>
            <a:ext cx="2834640" cy="2606040"/>
            <a:chOff x="8869680" y="1600200"/>
            <a:chExt cx="2834640" cy="2606040"/>
          </a:xfrm>
        </p:grpSpPr>
        <p:sp>
          <p:nvSpPr>
            <p:cNvPr id="27" name="Pentagon 26"/>
            <p:cNvSpPr/>
            <p:nvPr/>
          </p:nvSpPr>
          <p:spPr>
            <a:xfrm>
              <a:off x="8869680" y="1600200"/>
              <a:ext cx="2834640" cy="1280160"/>
            </a:xfrm>
            <a:prstGeom prst="homePlate">
              <a:avLst>
                <a:gd name="adj" fmla="val 30000"/>
              </a:avLst>
            </a:prstGeom>
            <a:gradFill rotWithShape="1">
              <a:gsLst>
                <a:gs pos="0">
                  <a:srgbClr val="FFC247"/>
                </a:gs>
                <a:gs pos="100000">
                  <a:srgbClr val="FFCF6F"/>
                </a:gs>
              </a:gsLst>
              <a:lin scaled="0" ang="0"/>
            </a:gradFill>
            <a:ln>
              <a:noFill/>
            </a:ln>
            <a:effectLst>
              <a:outerShdw blurRad="152400" dist="50800" dir="5400000" algn="t" rotWithShape="0">
                <a:srgbClr val="FFC247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144000" y="1600200"/>
              <a:ext cx="64008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4400" b="1">
                  <a:solidFill>
                    <a:srgbClr val="1E1740"/>
                  </a:solidFill>
                  <a:latin typeface="Calibri"/>
                </a:rPr>
                <a:t>4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784080" y="1600200"/>
              <a:ext cx="155448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400" b="1">
                  <a:solidFill>
                    <a:srgbClr val="1E1740"/>
                  </a:solidFill>
                  <a:latin typeface="Calibri"/>
                </a:rPr>
                <a:t>Niepewność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8915400" y="3017520"/>
              <a:ext cx="2514600" cy="11887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FFC247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44000" y="3017520"/>
              <a:ext cx="2103120" cy="11887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0">
                  <a:solidFill>
                    <a:srgbClr val="1E1740"/>
                  </a:solidFill>
                  <a:latin typeface="Calibri"/>
                </a:rPr>
                <a:t>Przedziały i odporność wyników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40080" y="4526280"/>
            <a:ext cx="10927080" cy="1691640"/>
            <a:chOff x="640080" y="4526280"/>
            <a:chExt cx="10927080" cy="1691640"/>
          </a:xfrm>
        </p:grpSpPr>
        <p:sp>
          <p:nvSpPr>
            <p:cNvPr id="33" name="Rounded Rectangle 32"/>
            <p:cNvSpPr/>
            <p:nvPr/>
          </p:nvSpPr>
          <p:spPr>
            <a:xfrm>
              <a:off x="640080" y="4526280"/>
              <a:ext cx="10927080" cy="1691640"/>
            </a:xfrm>
            <a:prstGeom prst="roundRect">
              <a:avLst>
                <a:gd name="adj" fmla="val 12000"/>
              </a:avLst>
            </a:prstGeom>
            <a:gradFill rotWithShape="1">
              <a:gsLst>
                <a:gs pos="0">
                  <a:srgbClr val="2D1E5F"/>
                </a:gs>
                <a:gs pos="100000">
                  <a:srgbClr val="4B3591"/>
                </a:gs>
              </a:gsLst>
              <a:lin scaled="0" ang="0"/>
            </a:gradFill>
            <a:ln>
              <a:noFill/>
            </a:ln>
            <a:effectLst>
              <a:outerShdw blurRad="228600" dist="76200" dir="5400000" algn="t" rotWithShape="0">
                <a:srgbClr val="2D1E5F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0120" y="4663440"/>
              <a:ext cx="329184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800" b="1">
                  <a:solidFill>
                    <a:srgbClr val="FFC247"/>
                  </a:solidFill>
                  <a:latin typeface="Calibri"/>
                </a:rPr>
                <a:t>NA CZYM PRACUJEMY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0120" y="5029200"/>
              <a:ext cx="3291840" cy="6400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4000" b="1">
                  <a:solidFill>
                    <a:srgbClr val="FFFFFF"/>
                  </a:solidFill>
                  <a:latin typeface="Calibri"/>
                </a:rPr>
                <a:t>12 500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0120" y="5669280"/>
              <a:ext cx="329184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800" b="0">
                  <a:solidFill>
                    <a:srgbClr val="C9C2E0"/>
                  </a:solidFill>
                  <a:latin typeface="Calibri"/>
                </a:rPr>
                <a:t>wzmianek, po 2 500 z 5 platform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160520" y="4754880"/>
              <a:ext cx="18288" cy="1280160"/>
            </a:xfrm>
            <a:prstGeom prst="rect">
              <a:avLst/>
            </a:prstGeom>
            <a:solidFill>
              <a:srgbClr val="6A58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434840" y="4663440"/>
              <a:ext cx="694944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800" b="1">
                  <a:solidFill>
                    <a:srgbClr val="FFC247"/>
                  </a:solidFill>
                  <a:latin typeface="Calibri"/>
                </a:rPr>
                <a:t>WZMIANKI Z ZNANYMI WYŚWIETLENIAMI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434840" y="4983480"/>
              <a:ext cx="128016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800" b="1">
                  <a:solidFill>
                    <a:srgbClr val="1FB59A"/>
                  </a:solidFill>
                  <a:latin typeface="Calibri"/>
                </a:rPr>
                <a:t>100%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434840" y="5532120"/>
              <a:ext cx="1188720" cy="146304"/>
            </a:xfrm>
            <a:prstGeom prst="roundRect">
              <a:avLst>
                <a:gd name="adj" fmla="val 50000"/>
              </a:avLst>
            </a:prstGeom>
            <a:solidFill>
              <a:srgbClr val="4E3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434840" y="5532120"/>
              <a:ext cx="1188720" cy="146304"/>
            </a:xfrm>
            <a:prstGeom prst="roundRect">
              <a:avLst>
                <a:gd name="adj" fmla="val 50000"/>
              </a:avLst>
            </a:prstGeom>
            <a:solidFill>
              <a:srgbClr val="1FB5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34840" y="5760720"/>
              <a:ext cx="13716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C9C2E0"/>
                  </a:solidFill>
                  <a:latin typeface="Calibri"/>
                </a:rPr>
                <a:t>TikTok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833872" y="4983480"/>
              <a:ext cx="128016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800" b="1">
                  <a:solidFill>
                    <a:srgbClr val="1FB59A"/>
                  </a:solidFill>
                  <a:latin typeface="Calibri"/>
                </a:rPr>
                <a:t>99%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5833872" y="5532120"/>
              <a:ext cx="1188720" cy="146304"/>
            </a:xfrm>
            <a:prstGeom prst="roundRect">
              <a:avLst>
                <a:gd name="adj" fmla="val 50000"/>
              </a:avLst>
            </a:prstGeom>
            <a:solidFill>
              <a:srgbClr val="4E3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5833872" y="5532120"/>
              <a:ext cx="1176832" cy="146304"/>
            </a:xfrm>
            <a:prstGeom prst="roundRect">
              <a:avLst>
                <a:gd name="adj" fmla="val 50000"/>
              </a:avLst>
            </a:prstGeom>
            <a:solidFill>
              <a:srgbClr val="1FB5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833872" y="5760720"/>
              <a:ext cx="13716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C9C2E0"/>
                  </a:solidFill>
                  <a:latin typeface="Calibri"/>
                </a:rPr>
                <a:t>YouTube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232904" y="4983480"/>
              <a:ext cx="128016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800" b="1">
                  <a:solidFill>
                    <a:srgbClr val="FFC247"/>
                  </a:solidFill>
                  <a:latin typeface="Calibri"/>
                </a:rPr>
                <a:t>75%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7232904" y="5532120"/>
              <a:ext cx="1188720" cy="146304"/>
            </a:xfrm>
            <a:prstGeom prst="roundRect">
              <a:avLst>
                <a:gd name="adj" fmla="val 50000"/>
              </a:avLst>
            </a:prstGeom>
            <a:solidFill>
              <a:srgbClr val="4E3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232904" y="5532120"/>
              <a:ext cx="891540" cy="146304"/>
            </a:xfrm>
            <a:prstGeom prst="roundRect">
              <a:avLst>
                <a:gd name="adj" fmla="val 50000"/>
              </a:avLst>
            </a:prstGeom>
            <a:solidFill>
              <a:srgbClr val="FFC2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232904" y="5760720"/>
              <a:ext cx="13716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C9C2E0"/>
                  </a:solidFill>
                  <a:latin typeface="Calibri"/>
                </a:rPr>
                <a:t>X (Twitter)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631936" y="4983480"/>
              <a:ext cx="128016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800" b="1">
                  <a:solidFill>
                    <a:srgbClr val="E8475A"/>
                  </a:solidFill>
                  <a:latin typeface="Calibri"/>
                </a:rPr>
                <a:t>0%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8631936" y="5532120"/>
              <a:ext cx="1188720" cy="146304"/>
            </a:xfrm>
            <a:prstGeom prst="roundRect">
              <a:avLst>
                <a:gd name="adj" fmla="val 50000"/>
              </a:avLst>
            </a:prstGeom>
            <a:solidFill>
              <a:srgbClr val="4E3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631936" y="5760720"/>
              <a:ext cx="13716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C9C2E0"/>
                  </a:solidFill>
                  <a:latin typeface="Calibri"/>
                </a:rPr>
                <a:t>Facebook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030967" y="4983480"/>
              <a:ext cx="128016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800" b="1">
                  <a:solidFill>
                    <a:srgbClr val="E8475A"/>
                  </a:solidFill>
                  <a:latin typeface="Calibri"/>
                </a:rPr>
                <a:t>0%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10030967" y="5532120"/>
              <a:ext cx="1188720" cy="146304"/>
            </a:xfrm>
            <a:prstGeom prst="roundRect">
              <a:avLst>
                <a:gd name="adj" fmla="val 50000"/>
              </a:avLst>
            </a:prstGeom>
            <a:solidFill>
              <a:srgbClr val="4E3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030967" y="5760720"/>
              <a:ext cx="13716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C9C2E0"/>
                  </a:solidFill>
                  <a:latin typeface="Calibri"/>
                </a:rPr>
                <a:t>Instagram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9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2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4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6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8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1"/>
          <p:cNvSpPr/>
          <p:nvPr/>
        </p:nvSpPr>
        <p:spPr>
          <a:xfrm>
            <a:off x="10241280" y="-1463040"/>
            <a:ext cx="2743200" cy="2743200"/>
          </a:xfrm>
          <a:prstGeom prst="ellipse">
            <a:avLst/>
          </a:prstGeom>
          <a:solidFill>
            <a:srgbClr val="E8475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2"/>
          <p:cNvSpPr/>
          <p:nvPr/>
        </p:nvSpPr>
        <p:spPr>
          <a:xfrm>
            <a:off x="-731520" y="6035040"/>
            <a:ext cx="1463040" cy="1463040"/>
          </a:xfrm>
          <a:prstGeom prst="ellipse">
            <a:avLst/>
          </a:prstGeom>
          <a:solidFill>
            <a:srgbClr val="FFC24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3"/>
          <p:cNvSpPr/>
          <p:nvPr/>
        </p:nvSpPr>
        <p:spPr>
          <a:xfrm>
            <a:off x="11704320" y="5852160"/>
            <a:ext cx="914400" cy="914400"/>
          </a:xfrm>
          <a:prstGeom prst="ellipse">
            <a:avLst/>
          </a:prstGeom>
          <a:solidFill>
            <a:srgbClr val="3B5BD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"/>
          <p:cNvSpPr/>
          <p:nvPr/>
        </p:nvSpPr>
        <p:spPr>
          <a:xfrm>
            <a:off x="0" y="6748272"/>
            <a:ext cx="8708353" cy="109728"/>
          </a:xfrm>
          <a:prstGeom prst="rect">
            <a:avLst/>
          </a:prstGeom>
          <a:solidFill>
            <a:srgbClr val="E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dot"/>
          <p:cNvSpPr/>
          <p:nvPr/>
        </p:nvSpPr>
        <p:spPr>
          <a:xfrm>
            <a:off x="640080" y="566928"/>
            <a:ext cx="310896" cy="310896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1E1740"/>
                </a:solidFill>
                <a:latin typeface="Calibri"/>
              </a:rPr>
              <a:t>Kto na tym skorzysta?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40080" y="1508760"/>
            <a:ext cx="3474720" cy="2331720"/>
            <a:chOff x="640080" y="1508760"/>
            <a:chExt cx="3474720" cy="2331720"/>
          </a:xfrm>
        </p:grpSpPr>
        <p:sp>
          <p:nvSpPr>
            <p:cNvPr id="9" name="Rounded Rectangle 8"/>
            <p:cNvSpPr/>
            <p:nvPr/>
          </p:nvSpPr>
          <p:spPr>
            <a:xfrm>
              <a:off x="640080" y="1508760"/>
              <a:ext cx="3474720" cy="23317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E8475A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914400" y="1764792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ED6C7B"/>
                </a:gs>
                <a:gs pos="100000">
                  <a:srgbClr val="E8475A"/>
                </a:gs>
              </a:gsLst>
              <a:lin scaled="0" ang="2700000"/>
            </a:gradFill>
            <a:ln>
              <a:noFill/>
            </a:ln>
            <a:effectLst>
              <a:outerShdw blurRad="127000" dist="50800" dir="5400000" algn="t" rotWithShape="0">
                <a:srgbClr val="E8475A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nut 10"/>
            <p:cNvSpPr/>
            <p:nvPr/>
          </p:nvSpPr>
          <p:spPr>
            <a:xfrm>
              <a:off x="1124712" y="1975104"/>
              <a:ext cx="457200" cy="457200"/>
            </a:xfrm>
            <a:prstGeom prst="donu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2743200"/>
              <a:ext cx="30175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400" b="1">
                  <a:solidFill>
                    <a:srgbClr val="1E1740"/>
                  </a:solidFill>
                  <a:latin typeface="Calibri"/>
                </a:rPr>
                <a:t>Firmy i marki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3200400"/>
              <a:ext cx="3017520" cy="5943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5E5878"/>
                  </a:solidFill>
                  <a:latin typeface="Calibri"/>
                </a:rPr>
                <a:t>Wiedzą, ile osób naprawdę zobaczyło wzmiankę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361688" y="1508760"/>
            <a:ext cx="3474720" cy="2331720"/>
            <a:chOff x="4361688" y="1508760"/>
            <a:chExt cx="3474720" cy="2331720"/>
          </a:xfrm>
        </p:grpSpPr>
        <p:sp>
          <p:nvSpPr>
            <p:cNvPr id="15" name="Rounded Rectangle 14"/>
            <p:cNvSpPr/>
            <p:nvPr/>
          </p:nvSpPr>
          <p:spPr>
            <a:xfrm>
              <a:off x="4361688" y="1508760"/>
              <a:ext cx="3474720" cy="23317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3B5BDB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4636007" y="1764792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627CE2"/>
                </a:gs>
                <a:gs pos="100000">
                  <a:srgbClr val="3B5BDB"/>
                </a:gs>
              </a:gsLst>
              <a:lin scaled="0" ang="2700000"/>
            </a:gradFill>
            <a:ln>
              <a:noFill/>
            </a:ln>
            <a:effectLst>
              <a:outerShdw blurRad="127000" dist="50800" dir="5400000" algn="t" rotWithShape="0">
                <a:srgbClr val="3B5BDB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5-Point Star 16"/>
            <p:cNvSpPr/>
            <p:nvPr/>
          </p:nvSpPr>
          <p:spPr>
            <a:xfrm>
              <a:off x="4846320" y="1975104"/>
              <a:ext cx="457200" cy="457200"/>
            </a:xfrm>
            <a:prstGeom prst="star5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636007" y="2743200"/>
              <a:ext cx="30175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400" b="1">
                  <a:solidFill>
                    <a:srgbClr val="1E1740"/>
                  </a:solidFill>
                  <a:latin typeface="Calibri"/>
                </a:rPr>
                <a:t>Małe firmy i NGO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36007" y="3200400"/>
              <a:ext cx="3017520" cy="5943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5E5878"/>
                  </a:solidFill>
                  <a:latin typeface="Calibri"/>
                </a:rPr>
                <a:t>Rzetelny obraz bez drogich danych platform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083296" y="1508760"/>
            <a:ext cx="3474720" cy="2331720"/>
            <a:chOff x="8083296" y="1508760"/>
            <a:chExt cx="3474720" cy="2331720"/>
          </a:xfrm>
        </p:grpSpPr>
        <p:sp>
          <p:nvSpPr>
            <p:cNvPr id="21" name="Rounded Rectangle 20"/>
            <p:cNvSpPr/>
            <p:nvPr/>
          </p:nvSpPr>
          <p:spPr>
            <a:xfrm>
              <a:off x="8083296" y="1508760"/>
              <a:ext cx="3474720" cy="23317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FFC247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8357616" y="1764792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FFCE6C"/>
                </a:gs>
                <a:gs pos="100000">
                  <a:srgbClr val="FFC247"/>
                </a:gs>
              </a:gsLst>
              <a:lin scaled="0" ang="2700000"/>
            </a:gradFill>
            <a:ln>
              <a:noFill/>
            </a:ln>
            <a:effectLst>
              <a:outerShdw blurRad="127000" dist="50800" dir="5400000" algn="t" rotWithShape="0">
                <a:srgbClr val="FFC247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Lightning Bolt 22"/>
            <p:cNvSpPr/>
            <p:nvPr/>
          </p:nvSpPr>
          <p:spPr>
            <a:xfrm>
              <a:off x="8567928" y="1975104"/>
              <a:ext cx="457200" cy="457200"/>
            </a:xfrm>
            <a:prstGeom prst="lightningBolt">
              <a:avLst/>
            </a:prstGeom>
            <a:solidFill>
              <a:srgbClr val="1E17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57616" y="2743200"/>
              <a:ext cx="30175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400" b="1">
                  <a:solidFill>
                    <a:srgbClr val="1E1740"/>
                  </a:solidFill>
                  <a:latin typeface="Calibri"/>
                </a:rPr>
                <a:t>Dziennikarze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357616" y="3200400"/>
              <a:ext cx="3017520" cy="5943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5E5878"/>
                  </a:solidFill>
                  <a:latin typeface="Calibri"/>
                </a:rPr>
                <a:t>Widzą, jak daleko zaszła dezinformacja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500884" y="4023360"/>
            <a:ext cx="3474720" cy="2331720"/>
            <a:chOff x="2500884" y="4023360"/>
            <a:chExt cx="3474720" cy="2331720"/>
          </a:xfrm>
        </p:grpSpPr>
        <p:sp>
          <p:nvSpPr>
            <p:cNvPr id="27" name="Rounded Rectangle 26"/>
            <p:cNvSpPr/>
            <p:nvPr/>
          </p:nvSpPr>
          <p:spPr>
            <a:xfrm>
              <a:off x="2500884" y="4023360"/>
              <a:ext cx="3474720" cy="23317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1FB59A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2775203" y="4279392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4CC4AE"/>
                </a:gs>
                <a:gs pos="100000">
                  <a:srgbClr val="1FB59A"/>
                </a:gs>
              </a:gsLst>
              <a:lin scaled="0" ang="2700000"/>
            </a:gradFill>
            <a:ln>
              <a:noFill/>
            </a:ln>
            <a:effectLst>
              <a:outerShdw blurRad="127000" dist="50800" dir="5400000" algn="t" rotWithShape="0">
                <a:srgbClr val="1FB59A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Up Arrow 28"/>
            <p:cNvSpPr/>
            <p:nvPr/>
          </p:nvSpPr>
          <p:spPr>
            <a:xfrm>
              <a:off x="2985515" y="4489704"/>
              <a:ext cx="457200" cy="457200"/>
            </a:xfrm>
            <a:prstGeom prst="upArrow">
              <a:avLst/>
            </a:prstGeom>
            <a:solidFill>
              <a:srgbClr val="1E17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75203" y="5257800"/>
              <a:ext cx="30175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400" b="1">
                  <a:solidFill>
                    <a:srgbClr val="1E1740"/>
                  </a:solidFill>
                  <a:latin typeface="Calibri"/>
                </a:rPr>
                <a:t>Badacze mediów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75203" y="5715000"/>
              <a:ext cx="3017520" cy="5943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5E5878"/>
                  </a:solidFill>
                  <a:latin typeface="Calibri"/>
                </a:rPr>
                <a:t>Miara z niepewnością zamiast zgadywania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222492" y="4023360"/>
            <a:ext cx="3474720" cy="2331720"/>
            <a:chOff x="6222492" y="4023360"/>
            <a:chExt cx="3474720" cy="2331720"/>
          </a:xfrm>
        </p:grpSpPr>
        <p:sp>
          <p:nvSpPr>
            <p:cNvPr id="33" name="Rounded Rectangle 32"/>
            <p:cNvSpPr/>
            <p:nvPr/>
          </p:nvSpPr>
          <p:spPr>
            <a:xfrm>
              <a:off x="6222492" y="4023360"/>
              <a:ext cx="3474720" cy="233172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2D1E5F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6496812" y="4279392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574B7F"/>
                </a:gs>
                <a:gs pos="100000">
                  <a:srgbClr val="2D1E5F"/>
                </a:gs>
              </a:gsLst>
              <a:lin scaled="0" ang="2700000"/>
            </a:gradFill>
            <a:ln>
              <a:noFill/>
            </a:ln>
            <a:effectLst>
              <a:outerShdw blurRad="127000" dist="50800" dir="5400000" algn="t" rotWithShape="0">
                <a:srgbClr val="2D1E5F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725412" y="4736592"/>
              <a:ext cx="100584" cy="2011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871716" y="4590288"/>
              <a:ext cx="100584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018020" y="4443984"/>
              <a:ext cx="100584" cy="493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496812" y="5257800"/>
              <a:ext cx="30175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400" b="1">
                  <a:solidFill>
                    <a:srgbClr val="1E1740"/>
                  </a:solidFill>
                  <a:latin typeface="Calibri"/>
                </a:rPr>
                <a:t>Każdy z nas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496812" y="5715000"/>
              <a:ext cx="3017520" cy="5943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5E5878"/>
                  </a:solidFill>
                  <a:latin typeface="Calibri"/>
                </a:rPr>
                <a:t>Mniej napompowanych statystyk w obiegu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9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2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4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6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8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1"/>
          <p:cNvSpPr/>
          <p:nvPr/>
        </p:nvSpPr>
        <p:spPr>
          <a:xfrm>
            <a:off x="10972800" y="-1005840"/>
            <a:ext cx="2377440" cy="2377440"/>
          </a:xfrm>
          <a:prstGeom prst="ellipse">
            <a:avLst/>
          </a:prstGeom>
          <a:solidFill>
            <a:srgbClr val="E8475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2"/>
          <p:cNvSpPr/>
          <p:nvPr/>
        </p:nvSpPr>
        <p:spPr>
          <a:xfrm>
            <a:off x="11521440" y="4480560"/>
            <a:ext cx="1280160" cy="1280160"/>
          </a:xfrm>
          <a:prstGeom prst="ellipse">
            <a:avLst/>
          </a:prstGeom>
          <a:solidFill>
            <a:srgbClr val="FFC24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3"/>
          <p:cNvSpPr/>
          <p:nvPr/>
        </p:nvSpPr>
        <p:spPr>
          <a:xfrm>
            <a:off x="-457200" y="6309360"/>
            <a:ext cx="914400" cy="914400"/>
          </a:xfrm>
          <a:prstGeom prst="ellipse">
            <a:avLst/>
          </a:prstGeom>
          <a:solidFill>
            <a:srgbClr val="3B5BD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"/>
          <p:cNvSpPr/>
          <p:nvPr/>
        </p:nvSpPr>
        <p:spPr>
          <a:xfrm>
            <a:off x="0" y="6748272"/>
            <a:ext cx="10450024" cy="109728"/>
          </a:xfrm>
          <a:prstGeom prst="rect">
            <a:avLst/>
          </a:prstGeom>
          <a:solidFill>
            <a:srgbClr val="E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dot"/>
          <p:cNvSpPr/>
          <p:nvPr/>
        </p:nvSpPr>
        <p:spPr>
          <a:xfrm>
            <a:off x="640080" y="566928"/>
            <a:ext cx="310896" cy="310896"/>
          </a:xfrm>
          <a:prstGeom prst="ellipse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1E1740"/>
                </a:solidFill>
                <a:latin typeface="Calibri"/>
              </a:rPr>
              <a:t>Impact: komu to coś da?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32307" y="1463040"/>
            <a:ext cx="10927080" cy="1280160"/>
            <a:chOff x="632307" y="1463040"/>
            <a:chExt cx="10927080" cy="1280160"/>
          </a:xfrm>
        </p:grpSpPr>
        <p:sp>
          <p:nvSpPr>
            <p:cNvPr id="9" name="Rounded Rectangle 8"/>
            <p:cNvSpPr/>
            <p:nvPr/>
          </p:nvSpPr>
          <p:spPr>
            <a:xfrm>
              <a:off x="632307" y="1463040"/>
              <a:ext cx="10927080" cy="1280160"/>
            </a:xfrm>
            <a:prstGeom prst="roundRect">
              <a:avLst>
                <a:gd name="adj" fmla="val 15000"/>
              </a:avLst>
            </a:prstGeom>
            <a:gradFill rotWithShape="1">
              <a:gsLst>
                <a:gs pos="0">
                  <a:srgbClr val="2D1E5F"/>
                </a:gs>
                <a:gs pos="100000">
                  <a:srgbClr val="4B3591"/>
                </a:gs>
              </a:gsLst>
              <a:lin scaled="0" ang="0"/>
            </a:gradFill>
            <a:ln>
              <a:noFill/>
            </a:ln>
            <a:effectLst>
              <a:outerShdw blurRad="177800" dist="63500" dir="5400000" algn="t" rotWithShape="0">
                <a:srgbClr val="2D1E5F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52347" y="1463040"/>
              <a:ext cx="237744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3800" b="1">
                  <a:solidFill>
                    <a:srgbClr val="FFFFFF"/>
                  </a:solidFill>
                  <a:latin typeface="Calibri"/>
                </a:rPr>
                <a:t>5,24 mld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75507" y="1572768"/>
              <a:ext cx="7909559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Calibri"/>
                </a:rPr>
                <a:t>kont w mediach społecznościowych:</a:t>
              </a:r>
            </a:p>
            <a:p>
              <a:pPr algn="l"/>
              <a:r>
                <a:rPr sz="2000" b="1">
                  <a:solidFill>
                    <a:srgbClr val="FFFFFF"/>
                  </a:solidFill>
                  <a:latin typeface="Calibri"/>
                </a:rPr>
                <a:t>ich posty mogą być mierzone uczciwiej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75507" y="2377440"/>
              <a:ext cx="7909559" cy="3200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E8E2F5"/>
                  </a:solidFill>
                  <a:latin typeface="Calibri"/>
                </a:rPr>
                <a:t>DataReportal / Kepios, 2025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798167" y="2926080"/>
            <a:ext cx="8595360" cy="1280160"/>
            <a:chOff x="1798167" y="2926080"/>
            <a:chExt cx="8595360" cy="1280160"/>
          </a:xfrm>
        </p:grpSpPr>
        <p:sp>
          <p:nvSpPr>
            <p:cNvPr id="14" name="Rounded Rectangle 13"/>
            <p:cNvSpPr/>
            <p:nvPr/>
          </p:nvSpPr>
          <p:spPr>
            <a:xfrm>
              <a:off x="1798167" y="2926080"/>
              <a:ext cx="8595360" cy="1280160"/>
            </a:xfrm>
            <a:prstGeom prst="roundRect">
              <a:avLst>
                <a:gd name="adj" fmla="val 15000"/>
              </a:avLst>
            </a:prstGeom>
            <a:gradFill rotWithShape="1">
              <a:gsLst>
                <a:gs pos="0">
                  <a:srgbClr val="3B5BDB"/>
                </a:gs>
                <a:gs pos="100000">
                  <a:srgbClr val="627CE2"/>
                </a:gs>
              </a:gsLst>
              <a:lin scaled="0" ang="0"/>
            </a:gradFill>
            <a:ln>
              <a:noFill/>
            </a:ln>
            <a:effectLst>
              <a:outerShdw blurRad="177800" dist="63500" dir="5400000" algn="t" rotWithShape="0">
                <a:srgbClr val="3B5BDB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18207" y="2926080"/>
              <a:ext cx="237744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3800" b="1">
                  <a:solidFill>
                    <a:srgbClr val="FFFFFF"/>
                  </a:solidFill>
                  <a:latin typeface="Calibri"/>
                </a:rPr>
                <a:t>2 400+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41367" y="3035808"/>
              <a:ext cx="557784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Calibri"/>
                </a:rPr>
                <a:t>firm korzysta z Brand24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541367" y="3840480"/>
              <a:ext cx="5577840" cy="3200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E8E2F5"/>
                  </a:solidFill>
                  <a:latin typeface="Calibri"/>
                </a:rPr>
                <a:t>dane podawane przez Brand24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941167" y="4389120"/>
            <a:ext cx="6309360" cy="1280160"/>
            <a:chOff x="2941167" y="4389120"/>
            <a:chExt cx="6309360" cy="1280160"/>
          </a:xfrm>
        </p:grpSpPr>
        <p:sp>
          <p:nvSpPr>
            <p:cNvPr id="19" name="Rounded Rectangle 18"/>
            <p:cNvSpPr/>
            <p:nvPr/>
          </p:nvSpPr>
          <p:spPr>
            <a:xfrm>
              <a:off x="2941167" y="4389120"/>
              <a:ext cx="6309360" cy="1280160"/>
            </a:xfrm>
            <a:prstGeom prst="roundRect">
              <a:avLst>
                <a:gd name="adj" fmla="val 15000"/>
              </a:avLst>
            </a:prstGeom>
            <a:gradFill rotWithShape="1">
              <a:gsLst>
                <a:gs pos="0">
                  <a:srgbClr val="E8475A"/>
                </a:gs>
                <a:gs pos="100000">
                  <a:srgbClr val="ED6C7B"/>
                </a:gs>
              </a:gsLst>
              <a:lin scaled="0" ang="0"/>
            </a:gradFill>
            <a:ln>
              <a:noFill/>
            </a:ln>
            <a:effectLst>
              <a:outerShdw blurRad="177800" dist="63500" dir="5400000" algn="t" rotWithShape="0">
                <a:srgbClr val="E8475A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61207" y="4389120"/>
              <a:ext cx="2377440" cy="1280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3800" b="1">
                  <a:solidFill>
                    <a:srgbClr val="FFFFFF"/>
                  </a:solidFill>
                  <a:latin typeface="Calibri"/>
                </a:rPr>
                <a:t>~12 000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684367" y="4498848"/>
              <a:ext cx="329184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Calibri"/>
                </a:rPr>
                <a:t>osób czyta ich raporty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684367" y="5303520"/>
              <a:ext cx="3291840" cy="3200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E8E2F5"/>
                  </a:solidFill>
                  <a:latin typeface="Calibri"/>
                </a:rPr>
                <a:t>założenie: ok. 5 osób na firmę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640080" y="5989320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5E5878"/>
                </a:solidFill>
                <a:latin typeface="Calibri"/>
              </a:rPr>
              <a:t>Szacunek-zabawa: rzędy wielkości, nie pomiar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9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2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4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6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1"/>
          <p:cNvSpPr/>
          <p:nvPr/>
        </p:nvSpPr>
        <p:spPr>
          <a:xfrm>
            <a:off x="9692640" y="-1280160"/>
            <a:ext cx="3108960" cy="3108960"/>
          </a:xfrm>
          <a:prstGeom prst="ellipse">
            <a:avLst/>
          </a:prstGeom>
          <a:solidFill>
            <a:srgbClr val="E8475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b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FFC24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3"/>
          <p:cNvSpPr/>
          <p:nvPr/>
        </p:nvSpPr>
        <p:spPr>
          <a:xfrm>
            <a:off x="-365760" y="6309360"/>
            <a:ext cx="914400" cy="914400"/>
          </a:xfrm>
          <a:prstGeom prst="ellipse">
            <a:avLst/>
          </a:prstGeom>
          <a:solidFill>
            <a:srgbClr val="3B5BD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dot"/>
          <p:cNvSpPr/>
          <p:nvPr/>
        </p:nvSpPr>
        <p:spPr>
          <a:xfrm>
            <a:off x="640080" y="566928"/>
            <a:ext cx="310896" cy="310896"/>
          </a:xfrm>
          <a:prstGeom prst="ellipse">
            <a:avLst/>
          </a:prstGeom>
          <a:solidFill>
            <a:srgbClr val="1FB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1E1740"/>
                </a:solidFill>
                <a:latin typeface="Calibri"/>
              </a:rPr>
              <a:t>Dlaczego nam się uda?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40080" y="1463040"/>
            <a:ext cx="5349240" cy="4800600"/>
            <a:chOff x="640080" y="1463040"/>
            <a:chExt cx="5349240" cy="4800600"/>
          </a:xfrm>
        </p:grpSpPr>
        <p:sp>
          <p:nvSpPr>
            <p:cNvPr id="9" name="Rounded Rectangle 8"/>
            <p:cNvSpPr/>
            <p:nvPr/>
          </p:nvSpPr>
          <p:spPr>
            <a:xfrm>
              <a:off x="640080" y="1463040"/>
              <a:ext cx="5349240" cy="48006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1FB59A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60120" y="1645920"/>
              <a:ext cx="475488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200" b="1">
                  <a:solidFill>
                    <a:srgbClr val="1FB59A"/>
                  </a:solidFill>
                  <a:latin typeface="Calibri"/>
                </a:rPr>
                <a:t>WYKONALNOŚĆ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960120" y="2350008"/>
              <a:ext cx="274320" cy="274320"/>
            </a:xfrm>
            <a:prstGeom prst="ellipse">
              <a:avLst/>
            </a:prstGeom>
            <a:solidFill>
              <a:srgbClr val="1FB5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20" y="2240280"/>
              <a:ext cx="438912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0">
                  <a:solidFill>
                    <a:srgbClr val="1E1740"/>
                  </a:solidFill>
                  <a:latin typeface="Calibri"/>
                </a:rPr>
                <a:t>Legalne dane od zleceniodawcy: Brand24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960120" y="3127248"/>
              <a:ext cx="274320" cy="274320"/>
            </a:xfrm>
            <a:prstGeom prst="ellipse">
              <a:avLst/>
            </a:prstGeom>
            <a:solidFill>
              <a:srgbClr val="1FB5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17320" y="3017520"/>
              <a:ext cx="438912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0">
                  <a:solidFill>
                    <a:srgbClr val="1E1740"/>
                  </a:solidFill>
                  <a:latin typeface="Calibri"/>
                </a:rPr>
                <a:t>12 500 publicznych wzmianek, 5 platform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960120" y="3904488"/>
              <a:ext cx="274320" cy="274320"/>
            </a:xfrm>
            <a:prstGeom prst="ellipse">
              <a:avLst/>
            </a:prstGeom>
            <a:solidFill>
              <a:srgbClr val="1FB5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20" y="3794760"/>
              <a:ext cx="438912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0">
                  <a:solidFill>
                    <a:srgbClr val="1E1740"/>
                  </a:solidFill>
                  <a:latin typeface="Calibri"/>
                </a:rPr>
                <a:t>Prawda bazowa: TikTok i YouTube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960120" y="4681728"/>
              <a:ext cx="274320" cy="274320"/>
            </a:xfrm>
            <a:prstGeom prst="ellipse">
              <a:avLst/>
            </a:prstGeom>
            <a:solidFill>
              <a:srgbClr val="1FB5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17320" y="4572000"/>
              <a:ext cx="438912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0">
                  <a:solidFill>
                    <a:srgbClr val="1E1740"/>
                  </a:solidFill>
                  <a:latin typeface="Calibri"/>
                </a:rPr>
                <a:t>Bez danych osobowych autorów (RODO)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960120" y="5458968"/>
              <a:ext cx="274320" cy="274320"/>
            </a:xfrm>
            <a:prstGeom prst="ellipse">
              <a:avLst/>
            </a:prstGeom>
            <a:solidFill>
              <a:srgbClr val="1FB5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17320" y="5349240"/>
              <a:ext cx="438912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2000" b="0">
                  <a:solidFill>
                    <a:srgbClr val="1E1740"/>
                  </a:solidFill>
                  <a:latin typeface="Calibri"/>
                </a:rPr>
                <a:t>Wstępny test w eksploracji: obiecujący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217920" y="1463040"/>
            <a:ext cx="5349240" cy="4800600"/>
            <a:chOff x="6217920" y="1463040"/>
            <a:chExt cx="5349240" cy="4800600"/>
          </a:xfrm>
        </p:grpSpPr>
        <p:sp>
          <p:nvSpPr>
            <p:cNvPr id="22" name="Rounded Rectangle 21"/>
            <p:cNvSpPr/>
            <p:nvPr/>
          </p:nvSpPr>
          <p:spPr>
            <a:xfrm>
              <a:off x="6217920" y="1463040"/>
              <a:ext cx="5349240" cy="48006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31750">
              <a:solidFill>
                <a:srgbClr val="3B5BDB"/>
              </a:solidFill>
            </a:ln>
            <a:effectLst>
              <a:outerShdw blurRad="203200" dist="63500" dir="5400000" algn="t" rotWithShape="0">
                <a:srgbClr val="2D1E5F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37960" y="1645920"/>
              <a:ext cx="475488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200" b="1">
                  <a:solidFill>
                    <a:srgbClr val="3B5BDB"/>
                  </a:solidFill>
                  <a:latin typeface="Calibri"/>
                </a:rPr>
                <a:t>EKSPERTYZA: STAN WIEDZY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537960" y="2286000"/>
              <a:ext cx="73152" cy="731520"/>
            </a:xfrm>
            <a:prstGeom prst="rect">
              <a:avLst/>
            </a:prstGeom>
            <a:solidFill>
              <a:srgbClr val="3B5B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12280" y="2240280"/>
              <a:ext cx="457200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1E1740"/>
                  </a:solidFill>
                  <a:latin typeface="Calibri"/>
                </a:rPr>
                <a:t>Cha i in., 2010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812280" y="2624328"/>
              <a:ext cx="457200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800" b="0">
                  <a:solidFill>
                    <a:srgbClr val="5E5878"/>
                  </a:solidFill>
                  <a:latin typeface="Calibri"/>
                </a:rPr>
                <a:t>Obserwujący to nie realny wpływ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537960" y="3264408"/>
              <a:ext cx="73152" cy="731520"/>
            </a:xfrm>
            <a:prstGeom prst="rect">
              <a:avLst/>
            </a:prstGeom>
            <a:solidFill>
              <a:srgbClr val="3B5B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12280" y="3218688"/>
              <a:ext cx="457200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1E1740"/>
                  </a:solidFill>
                  <a:latin typeface="Calibri"/>
                </a:rPr>
                <a:t>Szabo i Huberman, 2010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812280" y="3602736"/>
              <a:ext cx="457200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800" b="0">
                  <a:solidFill>
                    <a:srgbClr val="5E5878"/>
                  </a:solidFill>
                  <a:latin typeface="Calibri"/>
                </a:rPr>
                <a:t>Popularność treści da się przewidywać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537960" y="4242816"/>
              <a:ext cx="73152" cy="731520"/>
            </a:xfrm>
            <a:prstGeom prst="rect">
              <a:avLst/>
            </a:prstGeom>
            <a:solidFill>
              <a:srgbClr val="3B5B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812280" y="4197096"/>
              <a:ext cx="457200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1E1740"/>
                  </a:solidFill>
                  <a:latin typeface="Calibri"/>
                </a:rPr>
                <a:t>Bakshy i in., 2011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812280" y="4581144"/>
              <a:ext cx="457200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800" b="0">
                  <a:solidFill>
                    <a:srgbClr val="5E5878"/>
                  </a:solidFill>
                  <a:latin typeface="Calibri"/>
                </a:rPr>
                <a:t>Pojedynczy post trudno przewidzieć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537960" y="5221224"/>
              <a:ext cx="73152" cy="731520"/>
            </a:xfrm>
            <a:prstGeom prst="rect">
              <a:avLst/>
            </a:prstGeom>
            <a:solidFill>
              <a:srgbClr val="3B5B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812280" y="5175504"/>
              <a:ext cx="457200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1E1740"/>
                  </a:solidFill>
                  <a:latin typeface="Calibri"/>
                </a:rPr>
                <a:t>Angelopoulos i Bates, 2023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12280" y="5559552"/>
              <a:ext cx="457200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800" b="0">
                  <a:solidFill>
                    <a:srgbClr val="5E5878"/>
                  </a:solidFill>
                  <a:latin typeface="Calibri"/>
                </a:rPr>
                <a:t>Przedziały niepewności z gwarancją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9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2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